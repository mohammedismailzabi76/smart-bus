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54"/>
  </p:notesMasterIdLst>
  <p:sldIdLst>
    <p:sldId id="256" r:id="rId2"/>
    <p:sldId id="257" r:id="rId3"/>
    <p:sldId id="258" r:id="rId4"/>
    <p:sldId id="259" r:id="rId5"/>
    <p:sldId id="260" r:id="rId6"/>
    <p:sldId id="261" r:id="rId7"/>
    <p:sldId id="262" r:id="rId8"/>
    <p:sldId id="268" r:id="rId9"/>
    <p:sldId id="269" r:id="rId10"/>
    <p:sldId id="270" r:id="rId11"/>
    <p:sldId id="271" r:id="rId12"/>
    <p:sldId id="272" r:id="rId13"/>
    <p:sldId id="273" r:id="rId14"/>
    <p:sldId id="274" r:id="rId15"/>
    <p:sldId id="275" r:id="rId16"/>
    <p:sldId id="276" r:id="rId17"/>
    <p:sldId id="277" r:id="rId18"/>
    <p:sldId id="281" r:id="rId19"/>
    <p:sldId id="282" r:id="rId20"/>
    <p:sldId id="283" r:id="rId21"/>
    <p:sldId id="284" r:id="rId22"/>
    <p:sldId id="285" r:id="rId23"/>
    <p:sldId id="291" r:id="rId24"/>
    <p:sldId id="292" r:id="rId25"/>
    <p:sldId id="295" r:id="rId26"/>
    <p:sldId id="296" r:id="rId27"/>
    <p:sldId id="294" r:id="rId28"/>
    <p:sldId id="297" r:id="rId29"/>
    <p:sldId id="301" r:id="rId30"/>
    <p:sldId id="302" r:id="rId31"/>
    <p:sldId id="303" r:id="rId32"/>
    <p:sldId id="304" r:id="rId33"/>
    <p:sldId id="305" r:id="rId34"/>
    <p:sldId id="306" r:id="rId35"/>
    <p:sldId id="307" r:id="rId36"/>
    <p:sldId id="308" r:id="rId37"/>
    <p:sldId id="310" r:id="rId38"/>
    <p:sldId id="311" r:id="rId39"/>
    <p:sldId id="312" r:id="rId40"/>
    <p:sldId id="313" r:id="rId41"/>
    <p:sldId id="315" r:id="rId42"/>
    <p:sldId id="317" r:id="rId43"/>
    <p:sldId id="318" r:id="rId44"/>
    <p:sldId id="319" r:id="rId45"/>
    <p:sldId id="321" r:id="rId46"/>
    <p:sldId id="322" r:id="rId47"/>
    <p:sldId id="323" r:id="rId48"/>
    <p:sldId id="324" r:id="rId49"/>
    <p:sldId id="325" r:id="rId50"/>
    <p:sldId id="326" r:id="rId51"/>
    <p:sldId id="327" r:id="rId52"/>
    <p:sldId id="328"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44F55D-9AB2-4BEE-AABB-C42628550B2E}" v="155" dt="2025-10-07T07:09:20.3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78" d="100"/>
          <a:sy n="78" d="100"/>
        </p:scale>
        <p:origin x="41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44C804-1C7B-4B05-ACF8-8609AB62FE78}" type="datetimeFigureOut">
              <a:rPr lang="en-IN" smtClean="0"/>
              <a:t>06-01-2026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81164C-9C07-402D-B42E-C804F14E21FC}" type="slidenum">
              <a:rPr lang="en-IN" smtClean="0"/>
              <a:t>‹#›</a:t>
            </a:fld>
            <a:endParaRPr lang="en-IN"/>
          </a:p>
        </p:txBody>
      </p:sp>
    </p:spTree>
    <p:extLst>
      <p:ext uri="{BB962C8B-B14F-4D97-AF65-F5344CB8AC3E}">
        <p14:creationId xmlns:p14="http://schemas.microsoft.com/office/powerpoint/2010/main" val="2533358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0901191-4F75-4E90-AD6C-E902D769586C}" type="datetimeFigureOut">
              <a:rPr lang="en-IN" smtClean="0"/>
              <a:t>06-01-2026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558ABF01-A382-4B14-A45A-09EC41F6D7A8}"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29681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901191-4F75-4E90-AD6C-E902D769586C}"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8ABF01-A382-4B14-A45A-09EC41F6D7A8}"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57889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901191-4F75-4E90-AD6C-E902D769586C}"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8ABF01-A382-4B14-A45A-09EC41F6D7A8}"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86376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0901191-4F75-4E90-AD6C-E902D769586C}"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8ABF01-A382-4B14-A45A-09EC41F6D7A8}"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92340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0901191-4F75-4E90-AD6C-E902D769586C}" type="datetimeFigureOut">
              <a:rPr lang="en-IN" smtClean="0"/>
              <a:t>06-01-2026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58ABF01-A382-4B14-A45A-09EC41F6D7A8}"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889291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901191-4F75-4E90-AD6C-E902D769586C}" type="datetimeFigureOut">
              <a:rPr lang="en-IN" smtClean="0"/>
              <a:t>06-01-2026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58ABF01-A382-4B14-A45A-09EC41F6D7A8}"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79597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901191-4F75-4E90-AD6C-E902D769586C}" type="datetimeFigureOut">
              <a:rPr lang="en-IN" smtClean="0"/>
              <a:t>06-01-2026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58ABF01-A382-4B14-A45A-09EC41F6D7A8}" type="slidenum">
              <a:rPr lang="en-IN" smtClean="0"/>
              <a:t>‹#›</a:t>
            </a:fld>
            <a:endParaRPr lang="en-IN"/>
          </a:p>
        </p:txBody>
      </p:sp>
    </p:spTree>
    <p:extLst>
      <p:ext uri="{BB962C8B-B14F-4D97-AF65-F5344CB8AC3E}">
        <p14:creationId xmlns:p14="http://schemas.microsoft.com/office/powerpoint/2010/main" val="1505697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901191-4F75-4E90-AD6C-E902D769586C}"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8ABF01-A382-4B14-A45A-09EC41F6D7A8}"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60410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00901191-4F75-4E90-AD6C-E902D769586C}" type="datetimeFigureOut">
              <a:rPr lang="en-IN" smtClean="0"/>
              <a:t>06-01-2026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558ABF01-A382-4B14-A45A-09EC41F6D7A8}"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49383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901191-4F75-4E90-AD6C-E902D769586C}"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8ABF01-A382-4B14-A45A-09EC41F6D7A8}"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54304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901191-4F75-4E90-AD6C-E902D769586C}"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8ABF01-A382-4B14-A45A-09EC41F6D7A8}"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69834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0901191-4F75-4E90-AD6C-E902D769586C}" type="datetimeFigureOut">
              <a:rPr lang="en-IN" smtClean="0"/>
              <a:t>06-01-2026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558ABF01-A382-4B14-A45A-09EC41F6D7A8}"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5296552"/>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4AA35-2D4C-C3C8-2291-690CF0A353B7}"/>
              </a:ext>
            </a:extLst>
          </p:cNvPr>
          <p:cNvSpPr>
            <a:spLocks noGrp="1"/>
          </p:cNvSpPr>
          <p:nvPr>
            <p:ph type="ctrTitle"/>
          </p:nvPr>
        </p:nvSpPr>
        <p:spPr>
          <a:xfrm>
            <a:off x="447676" y="478448"/>
            <a:ext cx="11563350" cy="5160352"/>
          </a:xfrm>
        </p:spPr>
        <p:txBody>
          <a:bodyPr>
            <a:noAutofit/>
          </a:bodyPr>
          <a:lstStyle/>
          <a:p>
            <a:r>
              <a:rPr lang="en-US" sz="3200" b="1" cap="none" dirty="0"/>
              <a:t>What is AI?</a:t>
            </a:r>
            <a:br>
              <a:rPr lang="en-US" sz="3200" b="1" cap="none" dirty="0"/>
            </a:br>
            <a:r>
              <a:rPr lang="en-US" sz="3200" cap="none" dirty="0"/>
              <a:t> </a:t>
            </a:r>
            <a:r>
              <a:rPr lang="en-US" sz="3200" i="1" cap="none" dirty="0"/>
              <a:t>AI is when </a:t>
            </a:r>
            <a:r>
              <a:rPr lang="en-US" sz="3200" b="1" i="1" cap="none" dirty="0"/>
              <a:t>computers can think, learn, and act like humans.</a:t>
            </a:r>
            <a:br>
              <a:rPr lang="en-US" sz="3200" b="1" i="1" cap="none" dirty="0"/>
            </a:br>
            <a:br>
              <a:rPr lang="en-US" sz="3200" i="1" cap="none" dirty="0"/>
            </a:br>
            <a:br>
              <a:rPr lang="en-US" sz="2400" i="1" cap="none" dirty="0"/>
            </a:br>
            <a:br>
              <a:rPr lang="en-US" sz="2400" i="1" cap="none" dirty="0"/>
            </a:br>
            <a:r>
              <a:rPr lang="en-US" sz="3200" i="1" cap="none" dirty="0"/>
              <a:t>AI means teaching computers to act smart. Just like we humans learn from experience, AI learns from data. For example, if you upload many photos of cats, AI learns how cat looks like, and next time it can recognize a cat by itself.“</a:t>
            </a:r>
            <a:endParaRPr lang="en-IN" sz="3200" cap="none" dirty="0"/>
          </a:p>
        </p:txBody>
      </p:sp>
    </p:spTree>
    <p:extLst>
      <p:ext uri="{BB962C8B-B14F-4D97-AF65-F5344CB8AC3E}">
        <p14:creationId xmlns:p14="http://schemas.microsoft.com/office/powerpoint/2010/main" val="1497139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5499665-FA33-A76C-1658-35A25ED1311E}"/>
              </a:ext>
            </a:extLst>
          </p:cNvPr>
          <p:cNvSpPr txBox="1"/>
          <p:nvPr/>
        </p:nvSpPr>
        <p:spPr>
          <a:xfrm>
            <a:off x="123825" y="371478"/>
            <a:ext cx="11982451" cy="5509200"/>
          </a:xfrm>
          <a:prstGeom prst="rect">
            <a:avLst/>
          </a:prstGeom>
          <a:noFill/>
        </p:spPr>
        <p:txBody>
          <a:bodyPr wrap="square">
            <a:spAutoFit/>
          </a:bodyPr>
          <a:lstStyle/>
          <a:p>
            <a:pPr>
              <a:buNone/>
            </a:pPr>
            <a:r>
              <a:rPr lang="en-US" sz="3200" b="1" dirty="0"/>
              <a:t>Fundamentals of AI</a:t>
            </a:r>
          </a:p>
          <a:p>
            <a:pPr>
              <a:buNone/>
            </a:pPr>
            <a:endParaRPr lang="en-US" sz="3200" b="1" dirty="0"/>
          </a:p>
          <a:p>
            <a:pPr>
              <a:buNone/>
            </a:pPr>
            <a:r>
              <a:rPr lang="en-US" sz="3200" dirty="0"/>
              <a:t>(Data, Algorithm, Learning, Decision, Automation).</a:t>
            </a:r>
          </a:p>
          <a:p>
            <a:pPr>
              <a:buNone/>
            </a:pPr>
            <a:br>
              <a:rPr lang="en-US" sz="3200" dirty="0"/>
            </a:br>
            <a:r>
              <a:rPr lang="en-US" sz="3200" dirty="0"/>
              <a:t>1.</a:t>
            </a:r>
            <a:r>
              <a:rPr lang="en-US" sz="3200" b="1" dirty="0"/>
              <a:t>Data</a:t>
            </a:r>
            <a:r>
              <a:rPr lang="en-US" sz="3200" dirty="0"/>
              <a:t> – </a:t>
            </a:r>
            <a:r>
              <a:rPr lang="en-US" sz="3200" b="1" i="1" dirty="0"/>
              <a:t>AI needs information to learn</a:t>
            </a:r>
            <a:r>
              <a:rPr lang="en-US" sz="3200" i="1" dirty="0"/>
              <a:t>, like we need books to study</a:t>
            </a:r>
            <a:endParaRPr lang="en-US" sz="3200" dirty="0"/>
          </a:p>
          <a:p>
            <a:r>
              <a:rPr lang="en-US" sz="3200" b="1" dirty="0"/>
              <a:t>2.Algorithm</a:t>
            </a:r>
            <a:r>
              <a:rPr lang="en-US" sz="3200" dirty="0"/>
              <a:t> – </a:t>
            </a:r>
            <a:r>
              <a:rPr lang="en-US" sz="3200" b="1" dirty="0"/>
              <a:t>Step-by-step instructions</a:t>
            </a:r>
            <a:r>
              <a:rPr lang="en-US" sz="3200" dirty="0"/>
              <a:t> that tell the computer how to learn from data.</a:t>
            </a:r>
          </a:p>
          <a:p>
            <a:r>
              <a:rPr lang="en-US" sz="3200" b="1" dirty="0"/>
              <a:t>3.Learning</a:t>
            </a:r>
            <a:r>
              <a:rPr lang="en-US" sz="3200" dirty="0"/>
              <a:t> –  AI improves itself using techniques like:</a:t>
            </a:r>
          </a:p>
          <a:p>
            <a:r>
              <a:rPr lang="en-US" sz="3200" b="1" dirty="0"/>
              <a:t>Machine Learning</a:t>
            </a:r>
            <a:r>
              <a:rPr lang="en-US" sz="3200" dirty="0"/>
              <a:t> (learning patterns from data)</a:t>
            </a:r>
          </a:p>
          <a:p>
            <a:r>
              <a:rPr lang="en-US" sz="3200" b="1" dirty="0"/>
              <a:t>Deep Learning</a:t>
            </a:r>
            <a:r>
              <a:rPr lang="en-US" sz="3200" dirty="0"/>
              <a:t> (using artificial neural networks like the human brain)</a:t>
            </a:r>
          </a:p>
          <a:p>
            <a:endParaRPr lang="en-US" sz="3200" dirty="0"/>
          </a:p>
        </p:txBody>
      </p:sp>
    </p:spTree>
    <p:extLst>
      <p:ext uri="{BB962C8B-B14F-4D97-AF65-F5344CB8AC3E}">
        <p14:creationId xmlns:p14="http://schemas.microsoft.com/office/powerpoint/2010/main" val="62043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8E634C0F-45E5-9E98-2E17-F15779655DCB}"/>
              </a:ext>
            </a:extLst>
          </p:cNvPr>
          <p:cNvSpPr>
            <a:spLocks noGrp="1" noChangeArrowheads="1"/>
          </p:cNvSpPr>
          <p:nvPr>
            <p:ph idx="1"/>
          </p:nvPr>
        </p:nvSpPr>
        <p:spPr bwMode="auto">
          <a:xfrm>
            <a:off x="190500" y="2008597"/>
            <a:ext cx="117348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3200" b="1" i="0" u="none" strike="noStrike" cap="none" normalizeH="0" baseline="0" dirty="0">
                <a:ln>
                  <a:noFill/>
                </a:ln>
                <a:solidFill>
                  <a:schemeClr val="tx1"/>
                </a:solidFill>
                <a:effectLst/>
                <a:latin typeface="Arial" panose="020B0604020202020204" pitchFamily="34" charset="0"/>
              </a:rPr>
              <a:t>4.Decision Making</a:t>
            </a:r>
            <a:r>
              <a:rPr kumimoji="0" lang="en-US" altLang="en-US" sz="3200" b="0" i="0" u="none" strike="noStrike" cap="none" normalizeH="0" baseline="0" dirty="0">
                <a:ln>
                  <a:noFill/>
                </a:ln>
                <a:solidFill>
                  <a:schemeClr val="tx1"/>
                </a:solidFill>
                <a:effectLst/>
                <a:latin typeface="Arial" panose="020B0604020202020204" pitchFamily="34" charset="0"/>
              </a:rPr>
              <a:t> – After learning, AI can make </a:t>
            </a:r>
            <a:r>
              <a:rPr kumimoji="0" lang="en-US" altLang="en-US" sz="3200" i="0" u="none" strike="noStrike" cap="none" normalizeH="0" baseline="0" dirty="0">
                <a:ln>
                  <a:noFill/>
                </a:ln>
                <a:solidFill>
                  <a:schemeClr val="tx1"/>
                </a:solidFill>
                <a:effectLst/>
                <a:latin typeface="Arial" panose="020B0604020202020204" pitchFamily="34" charset="0"/>
              </a:rPr>
              <a:t>predictions</a:t>
            </a:r>
            <a:r>
              <a:rPr kumimoji="0" lang="en-US" altLang="en-US" sz="3200" b="0" i="0" u="none" strike="noStrike" cap="none" normalizeH="0" baseline="0" dirty="0">
                <a:ln>
                  <a:noFill/>
                </a:ln>
                <a:solidFill>
                  <a:schemeClr val="tx1"/>
                </a:solidFill>
                <a:effectLst/>
                <a:latin typeface="Arial" panose="020B0604020202020204" pitchFamily="34" charset="0"/>
              </a:rPr>
              <a:t> or </a:t>
            </a:r>
          </a:p>
          <a:p>
            <a:pPr marL="0" marR="0" lvl="0" indent="0" algn="l" defTabSz="914400" rtl="0" eaLnBrk="0" fontAlgn="base" latinLnBrk="0" hangingPunct="0">
              <a:lnSpc>
                <a:spcPct val="100000"/>
              </a:lnSpc>
              <a:spcBef>
                <a:spcPct val="0"/>
              </a:spcBef>
              <a:spcAft>
                <a:spcPct val="0"/>
              </a:spcAft>
              <a:buClrTx/>
              <a:buSzTx/>
              <a:buNone/>
              <a:tabLst/>
            </a:pPr>
            <a:r>
              <a:rPr lang="en-US" altLang="en-US" sz="3200" dirty="0">
                <a:latin typeface="Arial" panose="020B0604020202020204" pitchFamily="34" charset="0"/>
              </a:rPr>
              <a:t>   </a:t>
            </a:r>
            <a:r>
              <a:rPr kumimoji="0" lang="en-US" altLang="en-US" sz="3200" b="0" i="0" u="none" strike="noStrike" cap="none" normalizeH="0" baseline="0" dirty="0">
                <a:ln>
                  <a:noFill/>
                </a:ln>
                <a:solidFill>
                  <a:schemeClr val="tx1"/>
                </a:solidFill>
                <a:effectLst/>
                <a:latin typeface="Arial" panose="020B0604020202020204" pitchFamily="34" charset="0"/>
              </a:rPr>
              <a:t>decisions.</a:t>
            </a:r>
            <a:br>
              <a:rPr kumimoji="0" lang="en-US" altLang="en-US" sz="3200" b="0" i="0" u="none" strike="noStrike" cap="none" normalizeH="0" baseline="0" dirty="0">
                <a:ln>
                  <a:noFill/>
                </a:ln>
                <a:solidFill>
                  <a:schemeClr val="tx1"/>
                </a:solidFill>
                <a:effectLst/>
                <a:latin typeface="Arial" panose="020B0604020202020204" pitchFamily="34" charset="0"/>
              </a:rPr>
            </a:br>
            <a:r>
              <a:rPr kumimoji="0" lang="en-US" altLang="en-US" sz="3200" b="0" i="0" u="none" strike="noStrike" cap="none" normalizeH="0" baseline="0" dirty="0">
                <a:ln>
                  <a:noFill/>
                </a:ln>
                <a:solidFill>
                  <a:schemeClr val="tx1"/>
                </a:solidFill>
                <a:effectLst/>
                <a:latin typeface="Arial" panose="020B0604020202020204" pitchFamily="34" charset="0"/>
              </a:rPr>
              <a:t>   Example: Netflix suggesting movies.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200" b="1" i="0" u="none" strike="noStrike" cap="none" normalizeH="0" baseline="0" dirty="0">
                <a:ln>
                  <a:noFill/>
                </a:ln>
                <a:solidFill>
                  <a:schemeClr val="tx1"/>
                </a:solidFill>
                <a:effectLst/>
                <a:latin typeface="Arial" panose="020B0604020202020204" pitchFamily="34" charset="0"/>
              </a:rPr>
              <a:t>5.Automation</a:t>
            </a:r>
            <a:r>
              <a:rPr kumimoji="0" lang="en-US" altLang="en-US" sz="3200" b="0" i="0" u="none" strike="noStrike" cap="none" normalizeH="0" baseline="0" dirty="0">
                <a:ln>
                  <a:noFill/>
                </a:ln>
                <a:solidFill>
                  <a:schemeClr val="tx1"/>
                </a:solidFill>
                <a:effectLst/>
                <a:latin typeface="Arial" panose="020B0604020202020204" pitchFamily="34" charset="0"/>
              </a:rPr>
              <a:t> – </a:t>
            </a:r>
            <a:r>
              <a:rPr kumimoji="0" lang="en-US" altLang="en-US" sz="3200" b="1" i="0" u="none" strike="noStrike" cap="none" normalizeH="0" baseline="0" dirty="0">
                <a:ln>
                  <a:noFill/>
                </a:ln>
                <a:solidFill>
                  <a:schemeClr val="tx1"/>
                </a:solidFill>
                <a:effectLst/>
                <a:latin typeface="Arial" panose="020B0604020202020204" pitchFamily="34" charset="0"/>
              </a:rPr>
              <a:t>AI can perform tasks automatically </a:t>
            </a:r>
            <a:r>
              <a:rPr kumimoji="0" lang="en-US" altLang="en-US" sz="3200" b="0" i="0" u="none" strike="noStrike" cap="none" normalizeH="0" baseline="0" dirty="0">
                <a:ln>
                  <a:noFill/>
                </a:ln>
                <a:solidFill>
                  <a:schemeClr val="tx1"/>
                </a:solidFill>
                <a:effectLst/>
                <a:latin typeface="Arial" panose="020B0604020202020204" pitchFamily="34" charset="0"/>
              </a:rPr>
              <a:t>without human help.</a:t>
            </a:r>
            <a:br>
              <a:rPr kumimoji="0" lang="en-US" altLang="en-US" sz="3200" b="0" i="0" u="none" strike="noStrike" cap="none" normalizeH="0" baseline="0" dirty="0">
                <a:ln>
                  <a:noFill/>
                </a:ln>
                <a:solidFill>
                  <a:schemeClr val="tx1"/>
                </a:solidFill>
                <a:effectLst/>
                <a:latin typeface="Arial" panose="020B0604020202020204" pitchFamily="34" charset="0"/>
              </a:rPr>
            </a:br>
            <a:r>
              <a:rPr kumimoji="0" lang="en-US" altLang="en-US" sz="3200" b="0" i="0" u="none" strike="noStrike" cap="none" normalizeH="0" baseline="0" dirty="0">
                <a:ln>
                  <a:noFill/>
                </a:ln>
                <a:solidFill>
                  <a:schemeClr val="tx1"/>
                </a:solidFill>
                <a:effectLst/>
                <a:latin typeface="Arial" panose="020B0604020202020204" pitchFamily="34" charset="0"/>
              </a:rPr>
              <a:t>Example: Chatbots answering customer questions.</a:t>
            </a:r>
          </a:p>
        </p:txBody>
      </p:sp>
    </p:spTree>
    <p:extLst>
      <p:ext uri="{BB962C8B-B14F-4D97-AF65-F5344CB8AC3E}">
        <p14:creationId xmlns:p14="http://schemas.microsoft.com/office/powerpoint/2010/main" val="1696684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A6C7A5-C075-565C-9629-FFAAAA7FC93E}"/>
              </a:ext>
            </a:extLst>
          </p:cNvPr>
          <p:cNvSpPr>
            <a:spLocks noGrp="1"/>
          </p:cNvSpPr>
          <p:nvPr>
            <p:ph idx="1"/>
          </p:nvPr>
        </p:nvSpPr>
        <p:spPr>
          <a:xfrm>
            <a:off x="139701" y="-82550"/>
            <a:ext cx="11817350" cy="5861050"/>
          </a:xfrm>
        </p:spPr>
        <p:txBody>
          <a:bodyPr>
            <a:normAutofit/>
          </a:bodyPr>
          <a:lstStyle/>
          <a:p>
            <a:pPr marL="0" indent="0">
              <a:buNone/>
            </a:pPr>
            <a:r>
              <a:rPr lang="en-US" b="1" dirty="0"/>
              <a:t>                               </a:t>
            </a:r>
          </a:p>
          <a:p>
            <a:pPr marL="0" indent="0">
              <a:buNone/>
            </a:pPr>
            <a:r>
              <a:rPr lang="en-US" sz="3200" b="1" dirty="0"/>
              <a:t>                                          Types of AI </a:t>
            </a:r>
          </a:p>
          <a:p>
            <a:pPr marL="0" indent="0">
              <a:buNone/>
            </a:pPr>
            <a:endParaRPr lang="en-US" sz="3200" dirty="0"/>
          </a:p>
          <a:p>
            <a:pPr marL="0" indent="0">
              <a:buNone/>
            </a:pPr>
            <a:r>
              <a:rPr lang="en-US" sz="3200" b="1" dirty="0"/>
              <a:t>1.Narrow AI</a:t>
            </a:r>
            <a:r>
              <a:rPr lang="en-US" sz="3200" dirty="0"/>
              <a:t> – Can do </a:t>
            </a:r>
            <a:r>
              <a:rPr lang="en-US" sz="3200" b="1" dirty="0"/>
              <a:t>only one specific task</a:t>
            </a:r>
            <a:r>
              <a:rPr lang="en-US" sz="3200" dirty="0"/>
              <a:t> ,Most AI today is Narrow AI. </a:t>
            </a:r>
            <a:r>
              <a:rPr lang="en-US" sz="3200" i="1" dirty="0"/>
              <a:t>Example: Siri, Google Translate.</a:t>
            </a:r>
            <a:endParaRPr lang="en-US" sz="3200" dirty="0"/>
          </a:p>
          <a:p>
            <a:pPr marL="0" indent="0">
              <a:buNone/>
            </a:pPr>
            <a:r>
              <a:rPr lang="en-US" sz="3200" b="1" dirty="0"/>
              <a:t>2.General AI</a:t>
            </a:r>
            <a:r>
              <a:rPr lang="en-US" sz="3200" dirty="0"/>
              <a:t> – Can </a:t>
            </a:r>
            <a:r>
              <a:rPr lang="en-US" sz="3200" b="1" dirty="0"/>
              <a:t>think and learn like a human</a:t>
            </a:r>
            <a:r>
              <a:rPr lang="en-US" sz="3200" dirty="0"/>
              <a:t>. Can do many </a:t>
            </a:r>
            <a:r>
              <a:rPr lang="en-US" sz="3200" b="1" dirty="0"/>
              <a:t>different task</a:t>
            </a:r>
            <a:r>
              <a:rPr lang="en-US" sz="3200" dirty="0"/>
              <a:t>s, not just one. Still in research, not real yet.</a:t>
            </a:r>
          </a:p>
          <a:p>
            <a:pPr marL="0" indent="0">
              <a:buNone/>
            </a:pPr>
            <a:r>
              <a:rPr lang="en-US" sz="3200" dirty="0"/>
              <a:t>Example (imagination): A robot that can study, cook, play cricket, and talk like a person</a:t>
            </a:r>
            <a:r>
              <a:rPr lang="en-US" dirty="0"/>
              <a:t>.</a:t>
            </a:r>
            <a:endParaRPr lang="en-IN" dirty="0"/>
          </a:p>
        </p:txBody>
      </p:sp>
    </p:spTree>
    <p:extLst>
      <p:ext uri="{BB962C8B-B14F-4D97-AF65-F5344CB8AC3E}">
        <p14:creationId xmlns:p14="http://schemas.microsoft.com/office/powerpoint/2010/main" val="168989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380157-5275-D7E3-155B-765C66B478DC}"/>
              </a:ext>
            </a:extLst>
          </p:cNvPr>
          <p:cNvSpPr>
            <a:spLocks noGrp="1"/>
          </p:cNvSpPr>
          <p:nvPr>
            <p:ph idx="1"/>
          </p:nvPr>
        </p:nvSpPr>
        <p:spPr>
          <a:xfrm>
            <a:off x="101601" y="266700"/>
            <a:ext cx="11868150" cy="5772150"/>
          </a:xfrm>
        </p:spPr>
        <p:txBody>
          <a:bodyPr/>
          <a:lstStyle/>
          <a:p>
            <a:endParaRPr lang="en-IN" dirty="0"/>
          </a:p>
          <a:p>
            <a:endParaRPr lang="en-IN" dirty="0"/>
          </a:p>
          <a:p>
            <a:endParaRPr lang="en-IN" dirty="0"/>
          </a:p>
          <a:p>
            <a:endParaRPr lang="en-IN" dirty="0"/>
          </a:p>
          <a:p>
            <a:pPr marL="0" indent="0">
              <a:buNone/>
            </a:pPr>
            <a:r>
              <a:rPr lang="en-US" sz="3200" b="1" dirty="0"/>
              <a:t>3.Super AI</a:t>
            </a:r>
            <a:endParaRPr lang="en-US" sz="3200" dirty="0"/>
          </a:p>
          <a:p>
            <a:pPr marL="0" indent="0">
              <a:buNone/>
            </a:pPr>
            <a:r>
              <a:rPr lang="en-US" sz="3200" dirty="0"/>
              <a:t> -</a:t>
            </a:r>
            <a:r>
              <a:rPr lang="en-US" sz="3200" b="1" dirty="0"/>
              <a:t>Smarter than </a:t>
            </a:r>
            <a:r>
              <a:rPr lang="en-US" sz="3200" b="1" dirty="0" err="1"/>
              <a:t>human,</a:t>
            </a:r>
            <a:r>
              <a:rPr lang="en-US" sz="3200" dirty="0" err="1"/>
              <a:t>Can</a:t>
            </a:r>
            <a:r>
              <a:rPr lang="en-US" sz="3200" dirty="0"/>
              <a:t> make its own decisions better than us.</a:t>
            </a:r>
          </a:p>
          <a:p>
            <a:pPr marL="0" indent="0">
              <a:buNone/>
            </a:pPr>
            <a:endParaRPr lang="en-IN" dirty="0"/>
          </a:p>
        </p:txBody>
      </p:sp>
    </p:spTree>
    <p:extLst>
      <p:ext uri="{BB962C8B-B14F-4D97-AF65-F5344CB8AC3E}">
        <p14:creationId xmlns:p14="http://schemas.microsoft.com/office/powerpoint/2010/main" val="1683129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3C7789-9177-4C78-CF93-B6AEAADFBE93}"/>
              </a:ext>
            </a:extLst>
          </p:cNvPr>
          <p:cNvSpPr>
            <a:spLocks noGrp="1"/>
          </p:cNvSpPr>
          <p:nvPr>
            <p:ph idx="1"/>
          </p:nvPr>
        </p:nvSpPr>
        <p:spPr>
          <a:xfrm>
            <a:off x="177800" y="254000"/>
            <a:ext cx="11944349" cy="5689600"/>
          </a:xfrm>
        </p:spPr>
        <p:txBody>
          <a:bodyPr/>
          <a:lstStyle/>
          <a:p>
            <a:endParaRPr lang="en-IN" dirty="0"/>
          </a:p>
          <a:p>
            <a:endParaRPr lang="en-IN" dirty="0"/>
          </a:p>
          <a:p>
            <a:pPr marL="0" indent="0">
              <a:buNone/>
            </a:pPr>
            <a:r>
              <a:rPr lang="en-IN" dirty="0"/>
              <a:t>                                               </a:t>
            </a:r>
            <a:r>
              <a:rPr lang="en-US" sz="3200" b="1" dirty="0"/>
              <a:t>Quick Activity (AI or Not AI?)</a:t>
            </a:r>
          </a:p>
          <a:p>
            <a:pPr marL="0" indent="0">
              <a:buNone/>
            </a:pPr>
            <a:br>
              <a:rPr lang="en-US" dirty="0"/>
            </a:br>
            <a:endParaRPr lang="en-US" dirty="0"/>
          </a:p>
          <a:p>
            <a:pPr marL="0" indent="0">
              <a:buNone/>
            </a:pPr>
            <a:r>
              <a:rPr lang="en-US" sz="3200" dirty="0"/>
              <a:t>Washing machine timer  (it just runs on time).</a:t>
            </a:r>
          </a:p>
          <a:p>
            <a:pPr marL="0" indent="0">
              <a:buNone/>
            </a:pPr>
            <a:r>
              <a:rPr lang="en-US" sz="3200" dirty="0"/>
              <a:t>Calculator  (It only calculates, no learning).</a:t>
            </a:r>
          </a:p>
          <a:p>
            <a:pPr marL="0" indent="0">
              <a:buNone/>
            </a:pPr>
            <a:r>
              <a:rPr lang="en-US" sz="3200" dirty="0"/>
              <a:t>Google Translate  (Learns from data).</a:t>
            </a:r>
          </a:p>
          <a:p>
            <a:pPr marL="0" indent="0">
              <a:buNone/>
            </a:pPr>
            <a:r>
              <a:rPr lang="en-US" sz="3200" dirty="0"/>
              <a:t>Self-driving car </a:t>
            </a:r>
          </a:p>
          <a:p>
            <a:endParaRPr lang="en-IN" dirty="0"/>
          </a:p>
        </p:txBody>
      </p:sp>
    </p:spTree>
    <p:extLst>
      <p:ext uri="{BB962C8B-B14F-4D97-AF65-F5344CB8AC3E}">
        <p14:creationId xmlns:p14="http://schemas.microsoft.com/office/powerpoint/2010/main" val="1067595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715BF6-B7D9-A6F9-43C3-B5D297131D72}"/>
              </a:ext>
            </a:extLst>
          </p:cNvPr>
          <p:cNvSpPr>
            <a:spLocks noGrp="1"/>
          </p:cNvSpPr>
          <p:nvPr>
            <p:ph idx="1"/>
          </p:nvPr>
        </p:nvSpPr>
        <p:spPr>
          <a:xfrm>
            <a:off x="336550" y="171450"/>
            <a:ext cx="11512549" cy="5911850"/>
          </a:xfrm>
        </p:spPr>
        <p:txBody>
          <a:bodyPr/>
          <a:lstStyle/>
          <a:p>
            <a:endParaRPr lang="en-IN" dirty="0"/>
          </a:p>
          <a:p>
            <a:endParaRPr lang="en-IN" dirty="0"/>
          </a:p>
          <a:p>
            <a:pPr marL="0" indent="0">
              <a:buNone/>
            </a:pPr>
            <a:r>
              <a:rPr lang="en-US" sz="3200" b="1" dirty="0"/>
              <a:t>                                           Conclusion</a:t>
            </a:r>
          </a:p>
          <a:p>
            <a:pPr marL="0" indent="0">
              <a:buNone/>
            </a:pPr>
            <a:endParaRPr lang="en-US" sz="3200" b="1" dirty="0"/>
          </a:p>
          <a:p>
            <a:pPr marL="0" indent="0">
              <a:buNone/>
            </a:pPr>
            <a:br>
              <a:rPr lang="en-US" sz="3200" dirty="0"/>
            </a:br>
            <a:r>
              <a:rPr lang="en-US" sz="3200" i="1" dirty="0"/>
              <a:t>AI learns from data, uses algorithms, makes decisions, and works automatically. Today AI is narrow, in future it may become more powerful. AI is here not to replace us, but to help us</a:t>
            </a:r>
            <a:endParaRPr lang="en-US" sz="3200" dirty="0"/>
          </a:p>
          <a:p>
            <a:endParaRPr lang="en-IN" dirty="0"/>
          </a:p>
        </p:txBody>
      </p:sp>
    </p:spTree>
    <p:extLst>
      <p:ext uri="{BB962C8B-B14F-4D97-AF65-F5344CB8AC3E}">
        <p14:creationId xmlns:p14="http://schemas.microsoft.com/office/powerpoint/2010/main" val="25364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4F0A43-B789-D70B-B077-DAFA5FEC0871}"/>
              </a:ext>
            </a:extLst>
          </p:cNvPr>
          <p:cNvSpPr>
            <a:spLocks noGrp="1"/>
          </p:cNvSpPr>
          <p:nvPr>
            <p:ph idx="1"/>
          </p:nvPr>
        </p:nvSpPr>
        <p:spPr>
          <a:xfrm>
            <a:off x="209551" y="184150"/>
            <a:ext cx="11791950" cy="5835650"/>
          </a:xfrm>
          <a:ln>
            <a:solidFill>
              <a:schemeClr val="tx2"/>
            </a:solidFill>
          </a:ln>
        </p:spPr>
        <p:txBody>
          <a:bodyPr/>
          <a:lstStyle/>
          <a:p>
            <a:pPr marL="0" indent="0">
              <a:buNone/>
            </a:pPr>
            <a:endParaRPr lang="en-US" dirty="0"/>
          </a:p>
          <a:p>
            <a:pPr marL="0" indent="0">
              <a:buNone/>
            </a:pPr>
            <a:r>
              <a:rPr lang="en-IN" dirty="0"/>
              <a:t>       </a:t>
            </a:r>
          </a:p>
          <a:p>
            <a:pPr marL="0" indent="0">
              <a:buNone/>
            </a:pPr>
            <a:r>
              <a:rPr lang="en-IN" dirty="0"/>
              <a:t>                                                                      </a:t>
            </a:r>
            <a:r>
              <a:rPr lang="en-IN" sz="3200" dirty="0"/>
              <a:t>Data types </a:t>
            </a:r>
            <a:endParaRPr lang="en-IN" sz="1800" dirty="0"/>
          </a:p>
          <a:p>
            <a:pPr marL="0" indent="0">
              <a:buNone/>
            </a:pPr>
            <a:r>
              <a:rPr lang="en-IN" dirty="0"/>
              <a:t>                                                                    </a:t>
            </a:r>
            <a:r>
              <a:rPr lang="en-IN" sz="3200" dirty="0"/>
              <a:t>Structure data</a:t>
            </a:r>
          </a:p>
          <a:p>
            <a:pPr marL="0" indent="0">
              <a:buNone/>
            </a:pPr>
            <a:r>
              <a:rPr lang="en-US" sz="3200" dirty="0"/>
              <a:t>   Data </a:t>
            </a:r>
            <a:r>
              <a:rPr lang="en-US" sz="3200" b="1" dirty="0"/>
              <a:t>organize in rows and columns</a:t>
            </a:r>
            <a:r>
              <a:rPr lang="en-US" sz="3200" dirty="0"/>
              <a:t>, like Excel or Database, because it will be </a:t>
            </a:r>
            <a:r>
              <a:rPr lang="en-US" sz="3200" b="1" dirty="0"/>
              <a:t>easy to read machine</a:t>
            </a:r>
            <a:r>
              <a:rPr lang="en-US" sz="3200" dirty="0"/>
              <a:t>, or we can </a:t>
            </a:r>
            <a:r>
              <a:rPr lang="en-US" sz="3200" b="1" dirty="0"/>
              <a:t>search easy.</a:t>
            </a:r>
          </a:p>
          <a:p>
            <a:pPr marL="0" indent="0">
              <a:buNone/>
            </a:pPr>
            <a:r>
              <a:rPr lang="en-US" sz="3200" dirty="0"/>
              <a:t>Example, student record, name, roll number, age, marks, employee details.</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4115456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A726EB-181B-32D5-D2A0-DEB9755CA00E}"/>
              </a:ext>
            </a:extLst>
          </p:cNvPr>
          <p:cNvSpPr>
            <a:spLocks noGrp="1"/>
          </p:cNvSpPr>
          <p:nvPr>
            <p:ph idx="1"/>
          </p:nvPr>
        </p:nvSpPr>
        <p:spPr>
          <a:xfrm>
            <a:off x="161026" y="201284"/>
            <a:ext cx="11852695" cy="5808452"/>
          </a:xfrm>
        </p:spPr>
        <p:txBody>
          <a:bodyPr/>
          <a:lstStyle/>
          <a:p>
            <a:endParaRPr lang="en-IN" dirty="0"/>
          </a:p>
          <a:p>
            <a:endParaRPr lang="en-IN" dirty="0"/>
          </a:p>
          <a:p>
            <a:pPr marL="0" indent="0">
              <a:buNone/>
            </a:pPr>
            <a:r>
              <a:rPr lang="en-US" sz="3200" dirty="0"/>
              <a:t>                                        Unstructured Data</a:t>
            </a:r>
          </a:p>
          <a:p>
            <a:pPr marL="0" indent="0">
              <a:buNone/>
            </a:pPr>
            <a:endParaRPr lang="en-US" dirty="0"/>
          </a:p>
          <a:p>
            <a:pPr marL="0" indent="0">
              <a:buNone/>
            </a:pPr>
            <a:r>
              <a:rPr lang="en-US" sz="3200" dirty="0"/>
              <a:t>Data </a:t>
            </a:r>
            <a:r>
              <a:rPr lang="en-US" sz="3200" b="1" dirty="0"/>
              <a:t>has no format</a:t>
            </a:r>
            <a:r>
              <a:rPr lang="en-US" sz="3200" dirty="0"/>
              <a:t>, so it's hard to search and analyze to computer. It can be text, image, audio, </a:t>
            </a:r>
          </a:p>
          <a:p>
            <a:pPr marL="0" indent="0">
              <a:buNone/>
            </a:pPr>
            <a:r>
              <a:rPr lang="en-US" sz="3200" dirty="0"/>
              <a:t>example of social media posts, photos on your phone.</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3098626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E0C80A-8685-C3F7-FD0D-7A4139AA962C}"/>
              </a:ext>
            </a:extLst>
          </p:cNvPr>
          <p:cNvSpPr>
            <a:spLocks noGrp="1"/>
          </p:cNvSpPr>
          <p:nvPr>
            <p:ph idx="1"/>
          </p:nvPr>
        </p:nvSpPr>
        <p:spPr>
          <a:xfrm>
            <a:off x="201283" y="235789"/>
            <a:ext cx="11789434" cy="5819953"/>
          </a:xfrm>
        </p:spPr>
        <p:txBody>
          <a:bodyPr/>
          <a:lstStyle/>
          <a:p>
            <a:endParaRPr lang="en-IN" dirty="0"/>
          </a:p>
          <a:p>
            <a:endParaRPr lang="en-IN" dirty="0"/>
          </a:p>
          <a:p>
            <a:pPr marL="0" indent="0">
              <a:buNone/>
            </a:pPr>
            <a:r>
              <a:rPr lang="en-US" sz="3200" dirty="0"/>
              <a:t>                                  Semi-Structured Data </a:t>
            </a:r>
          </a:p>
          <a:p>
            <a:pPr marL="0" indent="0">
              <a:buNone/>
            </a:pPr>
            <a:r>
              <a:rPr lang="en-US" sz="3200" dirty="0"/>
              <a:t>It is a combination of both, but it has </a:t>
            </a:r>
            <a:r>
              <a:rPr lang="en-US" sz="3200" b="1" dirty="0"/>
              <a:t>some structure </a:t>
            </a:r>
            <a:r>
              <a:rPr lang="en-US" sz="3200" dirty="0"/>
              <a:t>or tag to understand, It'll give tags or keys labeled to give some structure.</a:t>
            </a:r>
          </a:p>
          <a:p>
            <a:pPr marL="0" indent="0">
              <a:buNone/>
            </a:pPr>
            <a:r>
              <a:rPr lang="en-US" sz="3200" dirty="0"/>
              <a:t> Ex. Emails (subject, sender = structured + body text = unstructured).</a:t>
            </a:r>
            <a:endParaRPr lang="en-IN" sz="3200" dirty="0"/>
          </a:p>
        </p:txBody>
      </p:sp>
    </p:spTree>
    <p:extLst>
      <p:ext uri="{BB962C8B-B14F-4D97-AF65-F5344CB8AC3E}">
        <p14:creationId xmlns:p14="http://schemas.microsoft.com/office/powerpoint/2010/main" val="126759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6B244B-0DB7-D7CB-DA80-C4D5352B0DAD}"/>
              </a:ext>
            </a:extLst>
          </p:cNvPr>
          <p:cNvSpPr>
            <a:spLocks noGrp="1"/>
          </p:cNvSpPr>
          <p:nvPr>
            <p:ph idx="1"/>
          </p:nvPr>
        </p:nvSpPr>
        <p:spPr>
          <a:xfrm>
            <a:off x="149525" y="143774"/>
            <a:ext cx="11806686" cy="5888966"/>
          </a:xfrm>
        </p:spPr>
        <p:txBody>
          <a:bodyPr/>
          <a:lstStyle/>
          <a:p>
            <a:pPr marL="0" indent="0">
              <a:buNone/>
            </a:pPr>
            <a:endParaRPr lang="en-IN" dirty="0"/>
          </a:p>
          <a:p>
            <a:pPr marL="0" indent="0">
              <a:buNone/>
            </a:pPr>
            <a:endParaRPr lang="en-IN" dirty="0"/>
          </a:p>
          <a:p>
            <a:pPr marL="0" indent="0" algn="ctr">
              <a:buNone/>
            </a:pPr>
            <a:r>
              <a:rPr lang="en-US" sz="3200" dirty="0"/>
              <a:t>Common Methods of Machine Learning</a:t>
            </a:r>
          </a:p>
          <a:p>
            <a:pPr marL="0" indent="0" algn="ctr">
              <a:buNone/>
            </a:pPr>
            <a:endParaRPr lang="en-US" sz="3200" dirty="0"/>
          </a:p>
          <a:p>
            <a:pPr marL="514350" indent="-514350" algn="ctr">
              <a:buFont typeface="+mj-lt"/>
              <a:buAutoNum type="arabicPeriod"/>
            </a:pPr>
            <a:r>
              <a:rPr lang="en-US" sz="3200" dirty="0"/>
              <a:t>Supervised learning</a:t>
            </a:r>
          </a:p>
          <a:p>
            <a:pPr marL="514350" indent="-514350" algn="ctr">
              <a:buFont typeface="+mj-lt"/>
              <a:buAutoNum type="arabicPeriod"/>
            </a:pPr>
            <a:r>
              <a:rPr lang="en-US" sz="3200" dirty="0"/>
              <a:t>Unsupervised learning</a:t>
            </a:r>
          </a:p>
          <a:p>
            <a:pPr marL="514350" indent="-514350" algn="ctr">
              <a:buFont typeface="+mj-lt"/>
              <a:buAutoNum type="arabicPeriod"/>
            </a:pPr>
            <a:r>
              <a:rPr lang="en-US" sz="3200" dirty="0"/>
              <a:t>Reinforcement learning</a:t>
            </a:r>
          </a:p>
          <a:p>
            <a:pPr marL="0" indent="0" algn="ctr">
              <a:buNone/>
            </a:pPr>
            <a:endParaRPr lang="en-US" sz="3200" dirty="0"/>
          </a:p>
          <a:p>
            <a:pPr marL="0" indent="0" algn="ctr">
              <a:buNone/>
            </a:pPr>
            <a:endParaRPr lang="en-IN" sz="3200" dirty="0"/>
          </a:p>
        </p:txBody>
      </p:sp>
    </p:spTree>
    <p:extLst>
      <p:ext uri="{BB962C8B-B14F-4D97-AF65-F5344CB8AC3E}">
        <p14:creationId xmlns:p14="http://schemas.microsoft.com/office/powerpoint/2010/main" val="2736652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85C895-61CF-0893-0492-B50D2A672FC3}"/>
              </a:ext>
            </a:extLst>
          </p:cNvPr>
          <p:cNvSpPr>
            <a:spLocks noGrp="1"/>
          </p:cNvSpPr>
          <p:nvPr>
            <p:ph idx="1"/>
          </p:nvPr>
        </p:nvSpPr>
        <p:spPr>
          <a:xfrm>
            <a:off x="235789" y="247292"/>
            <a:ext cx="11720422" cy="5750942"/>
          </a:xfrm>
        </p:spPr>
        <p:txBody>
          <a:bodyPr/>
          <a:lstStyle/>
          <a:p>
            <a:pPr marL="0" indent="0">
              <a:buNone/>
            </a:pPr>
            <a:endParaRPr lang="en-US" dirty="0"/>
          </a:p>
          <a:p>
            <a:pPr marL="0" indent="0">
              <a:buNone/>
            </a:pPr>
            <a:endParaRPr lang="en-US" dirty="0"/>
          </a:p>
          <a:p>
            <a:pPr marL="0" indent="0">
              <a:buNone/>
            </a:pPr>
            <a:r>
              <a:rPr lang="en-US" sz="3200" dirty="0"/>
              <a:t>                                     Supervised learning</a:t>
            </a:r>
          </a:p>
          <a:p>
            <a:pPr marL="0" indent="0">
              <a:buNone/>
            </a:pPr>
            <a:r>
              <a:rPr lang="en-US" sz="3200" dirty="0"/>
              <a:t>Supervised learning is a type of machine learning where the model learns from </a:t>
            </a:r>
            <a:r>
              <a:rPr lang="en-US" sz="3200" b="1" dirty="0"/>
              <a:t>labeled data</a:t>
            </a:r>
            <a:r>
              <a:rPr lang="en-US" sz="3200" dirty="0"/>
              <a:t> (data with correct answers).</a:t>
            </a:r>
            <a:br>
              <a:rPr lang="en-US" sz="3200" dirty="0"/>
            </a:br>
            <a:r>
              <a:rPr lang="en-US" sz="3200" dirty="0"/>
              <a:t>It finds the relationship between </a:t>
            </a:r>
            <a:r>
              <a:rPr lang="en-US" sz="3200" b="1" dirty="0"/>
              <a:t>input (X)</a:t>
            </a:r>
            <a:r>
              <a:rPr lang="en-US" sz="3200" dirty="0"/>
              <a:t> and </a:t>
            </a:r>
            <a:r>
              <a:rPr lang="en-US" sz="3200" b="1" dirty="0"/>
              <a:t>output (Y)</a:t>
            </a:r>
            <a:r>
              <a:rPr lang="en-US" sz="3200" dirty="0"/>
              <a:t> to make predictions. The model is trained and tested on that data</a:t>
            </a:r>
          </a:p>
          <a:p>
            <a:pPr marL="0" indent="0">
              <a:buNone/>
            </a:pPr>
            <a:endParaRPr lang="en-US" sz="3200" dirty="0"/>
          </a:p>
          <a:p>
            <a:pPr marL="0" indent="0">
              <a:buNone/>
            </a:pPr>
            <a:endParaRPr lang="en-US" sz="3200" dirty="0"/>
          </a:p>
          <a:p>
            <a:pPr marL="0" indent="0" algn="ctr">
              <a:buNone/>
            </a:pPr>
            <a:endParaRPr lang="en-IN" sz="3200"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2578697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BF49D6-59F8-E708-AF19-F9E749963B11}"/>
              </a:ext>
            </a:extLst>
          </p:cNvPr>
          <p:cNvSpPr>
            <a:spLocks noGrp="1"/>
          </p:cNvSpPr>
          <p:nvPr>
            <p:ph idx="1"/>
          </p:nvPr>
        </p:nvSpPr>
        <p:spPr>
          <a:xfrm>
            <a:off x="126521" y="224287"/>
            <a:ext cx="11749177" cy="5831455"/>
          </a:xfrm>
        </p:spPr>
        <p:txBody>
          <a:bodyPr/>
          <a:lstStyle/>
          <a:p>
            <a:pPr marL="0" indent="0">
              <a:buNone/>
            </a:pPr>
            <a:endParaRPr lang="en-IN" dirty="0"/>
          </a:p>
          <a:p>
            <a:pPr marL="0" indent="0" algn="ctr">
              <a:buNone/>
            </a:pPr>
            <a:r>
              <a:rPr lang="en-IN" sz="3200" dirty="0"/>
              <a:t>Example</a:t>
            </a:r>
          </a:p>
          <a:p>
            <a:pPr marL="0" indent="0" algn="ctr">
              <a:buNone/>
            </a:pPr>
            <a:endParaRPr lang="en-IN" sz="3200" dirty="0"/>
          </a:p>
          <a:p>
            <a:pPr marL="0" indent="0" algn="ctr">
              <a:buNone/>
            </a:pPr>
            <a:r>
              <a:rPr lang="en-IN" sz="3200" dirty="0"/>
              <a:t>																</a:t>
            </a:r>
          </a:p>
        </p:txBody>
      </p:sp>
      <p:graphicFrame>
        <p:nvGraphicFramePr>
          <p:cNvPr id="5" name="Table 4">
            <a:extLst>
              <a:ext uri="{FF2B5EF4-FFF2-40B4-BE49-F238E27FC236}">
                <a16:creationId xmlns:a16="http://schemas.microsoft.com/office/drawing/2014/main" id="{DF24625E-9ECB-DFA9-65A0-35826CA2E763}"/>
              </a:ext>
            </a:extLst>
          </p:cNvPr>
          <p:cNvGraphicFramePr>
            <a:graphicFrameLocks noGrp="1"/>
          </p:cNvGraphicFramePr>
          <p:nvPr>
            <p:extLst>
              <p:ext uri="{D42A27DB-BD31-4B8C-83A1-F6EECF244321}">
                <p14:modId xmlns:p14="http://schemas.microsoft.com/office/powerpoint/2010/main" val="1536987212"/>
              </p:ext>
            </p:extLst>
          </p:nvPr>
        </p:nvGraphicFramePr>
        <p:xfrm>
          <a:off x="1109931" y="2064589"/>
          <a:ext cx="10236680" cy="3381556"/>
        </p:xfrm>
        <a:graphic>
          <a:graphicData uri="http://schemas.openxmlformats.org/drawingml/2006/table">
            <a:tbl>
              <a:tblPr/>
              <a:tblGrid>
                <a:gridCol w="5118340">
                  <a:extLst>
                    <a:ext uri="{9D8B030D-6E8A-4147-A177-3AD203B41FA5}">
                      <a16:colId xmlns:a16="http://schemas.microsoft.com/office/drawing/2014/main" val="895350052"/>
                    </a:ext>
                  </a:extLst>
                </a:gridCol>
                <a:gridCol w="5118340">
                  <a:extLst>
                    <a:ext uri="{9D8B030D-6E8A-4147-A177-3AD203B41FA5}">
                      <a16:colId xmlns:a16="http://schemas.microsoft.com/office/drawing/2014/main" val="2094736250"/>
                    </a:ext>
                  </a:extLst>
                </a:gridCol>
              </a:tblGrid>
              <a:tr h="845389">
                <a:tc>
                  <a:txBody>
                    <a:bodyPr/>
                    <a:lstStyle/>
                    <a:p>
                      <a:pPr>
                        <a:buNone/>
                      </a:pPr>
                      <a:r>
                        <a:rPr lang="en-IN" sz="1800"/>
                        <a:t>Input (Features)</a:t>
                      </a:r>
                    </a:p>
                  </a:txBody>
                  <a:tcPr anchor="ctr">
                    <a:lnL>
                      <a:noFill/>
                    </a:lnL>
                    <a:lnR>
                      <a:noFill/>
                    </a:lnR>
                    <a:lnT>
                      <a:noFill/>
                    </a:lnT>
                    <a:lnB>
                      <a:noFill/>
                    </a:lnB>
                    <a:noFill/>
                  </a:tcPr>
                </a:tc>
                <a:tc>
                  <a:txBody>
                    <a:bodyPr/>
                    <a:lstStyle/>
                    <a:p>
                      <a:pPr>
                        <a:buNone/>
                      </a:pPr>
                      <a:r>
                        <a:rPr lang="en-IN" sz="1800"/>
                        <a:t>Output (Label)</a:t>
                      </a:r>
                    </a:p>
                  </a:txBody>
                  <a:tcPr anchor="ctr">
                    <a:lnL>
                      <a:noFill/>
                    </a:lnL>
                    <a:lnR>
                      <a:noFill/>
                    </a:lnR>
                    <a:lnT>
                      <a:noFill/>
                    </a:lnT>
                    <a:lnB>
                      <a:noFill/>
                    </a:lnB>
                    <a:noFill/>
                  </a:tcPr>
                </a:tc>
                <a:extLst>
                  <a:ext uri="{0D108BD9-81ED-4DB2-BD59-A6C34878D82A}">
                    <a16:rowId xmlns:a16="http://schemas.microsoft.com/office/drawing/2014/main" val="2956788165"/>
                  </a:ext>
                </a:extLst>
              </a:tr>
              <a:tr h="845389">
                <a:tc>
                  <a:txBody>
                    <a:bodyPr/>
                    <a:lstStyle/>
                    <a:p>
                      <a:pPr>
                        <a:buNone/>
                      </a:pPr>
                      <a:r>
                        <a:rPr lang="en-IN" sz="1800"/>
                        <a:t>1000 sq. ft., 2 BHK</a:t>
                      </a:r>
                    </a:p>
                  </a:txBody>
                  <a:tcPr anchor="ctr">
                    <a:lnL>
                      <a:noFill/>
                    </a:lnL>
                    <a:lnR>
                      <a:noFill/>
                    </a:lnR>
                    <a:lnT>
                      <a:noFill/>
                    </a:lnT>
                    <a:lnB>
                      <a:noFill/>
                    </a:lnB>
                    <a:noFill/>
                  </a:tcPr>
                </a:tc>
                <a:tc>
                  <a:txBody>
                    <a:bodyPr/>
                    <a:lstStyle/>
                    <a:p>
                      <a:pPr>
                        <a:buNone/>
                      </a:pPr>
                      <a:r>
                        <a:rPr lang="en-IN" sz="1800"/>
                        <a:t>₹40 Lakhs</a:t>
                      </a:r>
                    </a:p>
                  </a:txBody>
                  <a:tcPr anchor="ctr">
                    <a:lnL>
                      <a:noFill/>
                    </a:lnL>
                    <a:lnR>
                      <a:noFill/>
                    </a:lnR>
                    <a:lnT>
                      <a:noFill/>
                    </a:lnT>
                    <a:lnB>
                      <a:noFill/>
                    </a:lnB>
                    <a:noFill/>
                  </a:tcPr>
                </a:tc>
                <a:extLst>
                  <a:ext uri="{0D108BD9-81ED-4DB2-BD59-A6C34878D82A}">
                    <a16:rowId xmlns:a16="http://schemas.microsoft.com/office/drawing/2014/main" val="2610893369"/>
                  </a:ext>
                </a:extLst>
              </a:tr>
              <a:tr h="845389">
                <a:tc>
                  <a:txBody>
                    <a:bodyPr/>
                    <a:lstStyle/>
                    <a:p>
                      <a:pPr>
                        <a:buNone/>
                      </a:pPr>
                      <a:r>
                        <a:rPr lang="en-IN" sz="1800"/>
                        <a:t>1500 sq. ft., 3 BHK</a:t>
                      </a:r>
                    </a:p>
                  </a:txBody>
                  <a:tcPr anchor="ctr">
                    <a:lnL>
                      <a:noFill/>
                    </a:lnL>
                    <a:lnR>
                      <a:noFill/>
                    </a:lnR>
                    <a:lnT>
                      <a:noFill/>
                    </a:lnT>
                    <a:lnB>
                      <a:noFill/>
                    </a:lnB>
                    <a:noFill/>
                  </a:tcPr>
                </a:tc>
                <a:tc>
                  <a:txBody>
                    <a:bodyPr/>
                    <a:lstStyle/>
                    <a:p>
                      <a:pPr>
                        <a:buNone/>
                      </a:pPr>
                      <a:r>
                        <a:rPr lang="en-IN" sz="1800"/>
                        <a:t>₹60 Lakhs</a:t>
                      </a:r>
                    </a:p>
                  </a:txBody>
                  <a:tcPr anchor="ctr">
                    <a:lnL>
                      <a:noFill/>
                    </a:lnL>
                    <a:lnR>
                      <a:noFill/>
                    </a:lnR>
                    <a:lnT>
                      <a:noFill/>
                    </a:lnT>
                    <a:lnB>
                      <a:noFill/>
                    </a:lnB>
                    <a:noFill/>
                  </a:tcPr>
                </a:tc>
                <a:extLst>
                  <a:ext uri="{0D108BD9-81ED-4DB2-BD59-A6C34878D82A}">
                    <a16:rowId xmlns:a16="http://schemas.microsoft.com/office/drawing/2014/main" val="2089080072"/>
                  </a:ext>
                </a:extLst>
              </a:tr>
              <a:tr h="845389">
                <a:tc>
                  <a:txBody>
                    <a:bodyPr/>
                    <a:lstStyle/>
                    <a:p>
                      <a:pPr>
                        <a:buNone/>
                      </a:pPr>
                      <a:r>
                        <a:rPr lang="en-IN" sz="1800"/>
                        <a:t>2000 sq. ft., 4 BHK</a:t>
                      </a:r>
                    </a:p>
                  </a:txBody>
                  <a:tcPr anchor="ctr">
                    <a:lnL>
                      <a:noFill/>
                    </a:lnL>
                    <a:lnR>
                      <a:noFill/>
                    </a:lnR>
                    <a:lnT>
                      <a:noFill/>
                    </a:lnT>
                    <a:lnB>
                      <a:noFill/>
                    </a:lnB>
                    <a:noFill/>
                  </a:tcPr>
                </a:tc>
                <a:tc>
                  <a:txBody>
                    <a:bodyPr/>
                    <a:lstStyle/>
                    <a:p>
                      <a:pPr>
                        <a:buNone/>
                      </a:pPr>
                      <a:r>
                        <a:rPr lang="en-IN" sz="1800" dirty="0"/>
                        <a:t>₹80 Lakhs</a:t>
                      </a:r>
                    </a:p>
                  </a:txBody>
                  <a:tcPr anchor="ctr">
                    <a:lnL>
                      <a:noFill/>
                    </a:lnL>
                    <a:lnR>
                      <a:noFill/>
                    </a:lnR>
                    <a:lnT>
                      <a:noFill/>
                    </a:lnT>
                    <a:lnB>
                      <a:noFill/>
                    </a:lnB>
                    <a:noFill/>
                  </a:tcPr>
                </a:tc>
                <a:extLst>
                  <a:ext uri="{0D108BD9-81ED-4DB2-BD59-A6C34878D82A}">
                    <a16:rowId xmlns:a16="http://schemas.microsoft.com/office/drawing/2014/main" val="2355567598"/>
                  </a:ext>
                </a:extLst>
              </a:tr>
            </a:tbl>
          </a:graphicData>
        </a:graphic>
      </p:graphicFrame>
    </p:spTree>
    <p:extLst>
      <p:ext uri="{BB962C8B-B14F-4D97-AF65-F5344CB8AC3E}">
        <p14:creationId xmlns:p14="http://schemas.microsoft.com/office/powerpoint/2010/main" val="585283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C7954C-131B-C6BE-EFFF-20F85CB9EA91}"/>
              </a:ext>
            </a:extLst>
          </p:cNvPr>
          <p:cNvSpPr>
            <a:spLocks noGrp="1"/>
          </p:cNvSpPr>
          <p:nvPr>
            <p:ph idx="1"/>
          </p:nvPr>
        </p:nvSpPr>
        <p:spPr>
          <a:xfrm>
            <a:off x="172528" y="241540"/>
            <a:ext cx="11795185" cy="5825705"/>
          </a:xfrm>
        </p:spPr>
        <p:txBody>
          <a:bodyPr/>
          <a:lstStyle/>
          <a:p>
            <a:pPr marL="0" indent="0">
              <a:buNone/>
            </a:pPr>
            <a:endParaRPr lang="en-IN" dirty="0"/>
          </a:p>
          <a:p>
            <a:pPr marL="0" indent="0">
              <a:buNone/>
            </a:pPr>
            <a:endParaRPr lang="en-IN" dirty="0"/>
          </a:p>
          <a:p>
            <a:pPr marL="0" indent="0" algn="ctr">
              <a:buNone/>
            </a:pPr>
            <a:r>
              <a:rPr lang="en-IN" sz="3200" dirty="0"/>
              <a:t>Unsupervised Learning</a:t>
            </a:r>
          </a:p>
          <a:p>
            <a:pPr marL="0" indent="0">
              <a:buNone/>
            </a:pPr>
            <a:r>
              <a:rPr lang="en-US" sz="3200" dirty="0"/>
              <a:t>Unsupervised learning is a type of machine learning where the model </a:t>
            </a:r>
            <a:r>
              <a:rPr lang="en-US" sz="3200" b="1" dirty="0"/>
              <a:t>finds hidden patterns </a:t>
            </a:r>
            <a:r>
              <a:rPr lang="en-US" sz="3200" dirty="0"/>
              <a:t>and </a:t>
            </a:r>
            <a:r>
              <a:rPr lang="en-IN" sz="3200" dirty="0"/>
              <a:t>deals with </a:t>
            </a:r>
            <a:r>
              <a:rPr lang="en-IN" sz="3200" b="1" dirty="0" err="1"/>
              <a:t>unlabeled</a:t>
            </a:r>
            <a:r>
              <a:rPr lang="en-IN" sz="3200" b="1" dirty="0"/>
              <a:t> data</a:t>
            </a:r>
            <a:endParaRPr lang="en-IN" sz="3200" dirty="0"/>
          </a:p>
        </p:txBody>
      </p:sp>
    </p:spTree>
    <p:extLst>
      <p:ext uri="{BB962C8B-B14F-4D97-AF65-F5344CB8AC3E}">
        <p14:creationId xmlns:p14="http://schemas.microsoft.com/office/powerpoint/2010/main" val="757182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C238C5-B6BC-6887-F592-F080671028DA}"/>
              </a:ext>
            </a:extLst>
          </p:cNvPr>
          <p:cNvSpPr>
            <a:spLocks noGrp="1"/>
          </p:cNvSpPr>
          <p:nvPr>
            <p:ph idx="1"/>
          </p:nvPr>
        </p:nvSpPr>
        <p:spPr>
          <a:xfrm>
            <a:off x="201283" y="189781"/>
            <a:ext cx="11731925" cy="5837207"/>
          </a:xfrm>
        </p:spPr>
        <p:txBody>
          <a:bodyPr/>
          <a:lstStyle/>
          <a:p>
            <a:pPr marL="0" indent="0">
              <a:buNone/>
            </a:pPr>
            <a:endParaRPr lang="en-IN" dirty="0"/>
          </a:p>
          <a:p>
            <a:pPr marL="0" indent="0">
              <a:buNone/>
            </a:pPr>
            <a:endParaRPr lang="en-IN" dirty="0"/>
          </a:p>
          <a:p>
            <a:pPr marL="0" indent="0" algn="ctr">
              <a:buNone/>
            </a:pPr>
            <a:r>
              <a:rPr lang="en-IN" sz="3200" dirty="0"/>
              <a:t>Example</a:t>
            </a:r>
          </a:p>
          <a:p>
            <a:pPr marL="0" indent="0">
              <a:buNone/>
            </a:pPr>
            <a:r>
              <a:rPr lang="en-US" sz="3200" dirty="0"/>
              <a:t>Grouping fruits by color, size, or shape </a:t>
            </a:r>
            <a:r>
              <a:rPr lang="en-US" sz="3200" b="1" dirty="0"/>
              <a:t>without knowing their names</a:t>
            </a:r>
            <a:r>
              <a:rPr lang="en-US" sz="3200" dirty="0"/>
              <a:t> — e.g., the model clusters apples, bananas, and oranges into groups automatically. </a:t>
            </a:r>
            <a:endParaRPr lang="en-IN" dirty="0"/>
          </a:p>
        </p:txBody>
      </p:sp>
    </p:spTree>
    <p:extLst>
      <p:ext uri="{BB962C8B-B14F-4D97-AF65-F5344CB8AC3E}">
        <p14:creationId xmlns:p14="http://schemas.microsoft.com/office/powerpoint/2010/main" val="3104657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711869-6949-6C90-FAED-FAF06D0522EB}"/>
              </a:ext>
            </a:extLst>
          </p:cNvPr>
          <p:cNvSpPr>
            <a:spLocks noGrp="1"/>
          </p:cNvSpPr>
          <p:nvPr>
            <p:ph idx="1"/>
          </p:nvPr>
        </p:nvSpPr>
        <p:spPr>
          <a:xfrm>
            <a:off x="195533" y="235789"/>
            <a:ext cx="11823940" cy="5779697"/>
          </a:xfrm>
        </p:spPr>
        <p:txBody>
          <a:bodyPr/>
          <a:lstStyle/>
          <a:p>
            <a:pPr marL="0" indent="0">
              <a:buNone/>
            </a:pPr>
            <a:endParaRPr lang="en-US" dirty="0"/>
          </a:p>
          <a:p>
            <a:pPr marL="0" indent="0">
              <a:buNone/>
            </a:pPr>
            <a:endParaRPr lang="en-IN" dirty="0"/>
          </a:p>
          <a:p>
            <a:pPr marL="0" indent="0" algn="ctr">
              <a:buNone/>
            </a:pPr>
            <a:r>
              <a:rPr lang="en-US" sz="3200" dirty="0"/>
              <a:t>Reinforcement Learning</a:t>
            </a:r>
            <a:endParaRPr lang="en-IN" sz="3200" dirty="0"/>
          </a:p>
          <a:p>
            <a:pPr marL="0" indent="0">
              <a:buNone/>
            </a:pPr>
            <a:r>
              <a:rPr lang="en-US" sz="3200" dirty="0"/>
              <a:t>Reinforcement Learning is a type of AI where an agent </a:t>
            </a:r>
            <a:r>
              <a:rPr lang="en-US" sz="3200" b="1" dirty="0"/>
              <a:t>learns from trial and error</a:t>
            </a:r>
            <a:r>
              <a:rPr lang="en-US" sz="3200" dirty="0"/>
              <a:t> by receiving </a:t>
            </a:r>
            <a:r>
              <a:rPr lang="en-US" sz="3200" b="1" dirty="0"/>
              <a:t>rewards</a:t>
            </a:r>
            <a:r>
              <a:rPr lang="en-US" sz="3200" dirty="0"/>
              <a:t> or penalties for its actions.</a:t>
            </a:r>
          </a:p>
          <a:p>
            <a:pPr marL="0" indent="0">
              <a:buNone/>
            </a:pPr>
            <a:r>
              <a:rPr lang="en-US" sz="3200" dirty="0"/>
              <a:t> Ex A robot learns to walk </a:t>
            </a:r>
            <a:br>
              <a:rPr lang="en-US" sz="3200" dirty="0"/>
            </a:br>
            <a:r>
              <a:rPr lang="en-US" sz="3200" dirty="0"/>
              <a:t>✅ Gets reward when it moves correctly</a:t>
            </a:r>
            <a:br>
              <a:rPr lang="en-US" sz="3200" dirty="0"/>
            </a:br>
            <a:r>
              <a:rPr lang="en-US" sz="3200" dirty="0"/>
              <a:t>❌ Gets penalty when it falls</a:t>
            </a:r>
            <a:endParaRPr lang="en-IN" sz="3200" dirty="0"/>
          </a:p>
        </p:txBody>
      </p:sp>
    </p:spTree>
    <p:extLst>
      <p:ext uri="{BB962C8B-B14F-4D97-AF65-F5344CB8AC3E}">
        <p14:creationId xmlns:p14="http://schemas.microsoft.com/office/powerpoint/2010/main" val="29831715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79D242-4E40-3E8D-9921-0D5DAD71891A}"/>
              </a:ext>
            </a:extLst>
          </p:cNvPr>
          <p:cNvSpPr>
            <a:spLocks noGrp="1"/>
          </p:cNvSpPr>
          <p:nvPr>
            <p:ph idx="1"/>
          </p:nvPr>
        </p:nvSpPr>
        <p:spPr>
          <a:xfrm>
            <a:off x="255383" y="258793"/>
            <a:ext cx="11712330" cy="5750980"/>
          </a:xfrm>
        </p:spPr>
        <p:txBody>
          <a:bodyPr>
            <a:normAutofit/>
          </a:bodyPr>
          <a:lstStyle/>
          <a:p>
            <a:pPr marL="0" indent="0">
              <a:buNone/>
            </a:pPr>
            <a:endParaRPr lang="en-US" dirty="0"/>
          </a:p>
          <a:p>
            <a:pPr marL="0" indent="0">
              <a:buNone/>
            </a:pPr>
            <a:endParaRPr lang="en-IN" dirty="0"/>
          </a:p>
          <a:p>
            <a:pPr marL="0" indent="0" algn="ctr">
              <a:buNone/>
            </a:pPr>
            <a:r>
              <a:rPr lang="en-IN" sz="3200" dirty="0"/>
              <a:t>Natural language processing</a:t>
            </a:r>
          </a:p>
          <a:p>
            <a:pPr marL="0" indent="0">
              <a:buNone/>
            </a:pPr>
            <a:r>
              <a:rPr lang="en-US" sz="3200" dirty="0"/>
              <a:t>NLP is a branch of Artificial Intelligence that helps </a:t>
            </a:r>
            <a:r>
              <a:rPr lang="en-US" sz="3200" b="1" dirty="0"/>
              <a:t>computers understand</a:t>
            </a:r>
            <a:r>
              <a:rPr lang="en-US" sz="3200" dirty="0"/>
              <a:t>, interpret, and talk with humans in our </a:t>
            </a:r>
            <a:r>
              <a:rPr lang="en-US" sz="3200" b="1" dirty="0"/>
              <a:t>natural language </a:t>
            </a:r>
            <a:r>
              <a:rPr lang="en-US" sz="3200" dirty="0"/>
              <a:t>(like English, Hindi, etc.)</a:t>
            </a:r>
          </a:p>
          <a:p>
            <a:pPr marL="0" indent="0">
              <a:buNone/>
            </a:pPr>
            <a:r>
              <a:rPr lang="en-US" sz="3200" cap="all" dirty="0"/>
              <a:t>Machine Translation → “Good Morning” → “</a:t>
            </a:r>
            <a:r>
              <a:rPr lang="en-US" sz="3200" cap="all" dirty="0" err="1"/>
              <a:t>शुभ</a:t>
            </a:r>
            <a:r>
              <a:rPr lang="en-US" sz="3200" cap="all" dirty="0"/>
              <a:t> </a:t>
            </a:r>
            <a:r>
              <a:rPr lang="en-US" sz="3200" cap="all" dirty="0" err="1"/>
              <a:t>प्रभात</a:t>
            </a:r>
            <a:r>
              <a:rPr lang="en-US" sz="3200" cap="all" dirty="0"/>
              <a:t>”. </a:t>
            </a:r>
          </a:p>
          <a:p>
            <a:pPr marL="0" indent="0">
              <a:buNone/>
            </a:pPr>
            <a:r>
              <a:rPr lang="en-US" sz="3200" cap="all" dirty="0"/>
              <a:t>Speech Recognition → You say “Open YouTube”, computer converts speech → text → action</a:t>
            </a:r>
          </a:p>
          <a:p>
            <a:pPr marL="0" indent="0">
              <a:buNone/>
            </a:pPr>
            <a:endParaRPr lang="en-US" sz="3200" dirty="0"/>
          </a:p>
          <a:p>
            <a:pPr marL="0" indent="0">
              <a:buNone/>
            </a:pPr>
            <a:endParaRPr lang="en-IN" sz="3200" dirty="0"/>
          </a:p>
        </p:txBody>
      </p:sp>
    </p:spTree>
    <p:extLst>
      <p:ext uri="{BB962C8B-B14F-4D97-AF65-F5344CB8AC3E}">
        <p14:creationId xmlns:p14="http://schemas.microsoft.com/office/powerpoint/2010/main" val="18096137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03E22F-6EA6-1CAF-38AD-E47F5C725706}"/>
              </a:ext>
            </a:extLst>
          </p:cNvPr>
          <p:cNvSpPr>
            <a:spLocks noGrp="1"/>
          </p:cNvSpPr>
          <p:nvPr>
            <p:ph idx="1"/>
          </p:nvPr>
        </p:nvSpPr>
        <p:spPr>
          <a:xfrm>
            <a:off x="155275" y="189781"/>
            <a:ext cx="11846944" cy="5837207"/>
          </a:xfrm>
        </p:spPr>
        <p:txBody>
          <a:bodyPr/>
          <a:lstStyle/>
          <a:p>
            <a:pPr marL="0" indent="0">
              <a:buNone/>
            </a:pPr>
            <a:endParaRPr lang="en-IN" dirty="0"/>
          </a:p>
          <a:p>
            <a:pPr marL="0" indent="0">
              <a:buNone/>
            </a:pPr>
            <a:endParaRPr lang="en-IN" dirty="0"/>
          </a:p>
          <a:p>
            <a:pPr marL="0" indent="0">
              <a:buNone/>
            </a:pPr>
            <a:r>
              <a:rPr lang="en-IN" sz="3200" b="1" dirty="0"/>
              <a:t>                    Generative Adversarial Network (GAN)</a:t>
            </a:r>
          </a:p>
          <a:p>
            <a:pPr marL="0" indent="0">
              <a:buNone/>
            </a:pPr>
            <a:r>
              <a:rPr lang="en-US" sz="3200" dirty="0"/>
              <a:t>A GAN is a type of AI model that uses </a:t>
            </a:r>
            <a:r>
              <a:rPr lang="en-US" sz="3200" b="1" dirty="0"/>
              <a:t>two neural networks </a:t>
            </a:r>
            <a:r>
              <a:rPr lang="en-US" sz="3200" dirty="0"/>
              <a:t>— a </a:t>
            </a:r>
            <a:r>
              <a:rPr lang="en-US" sz="3200" b="1" dirty="0"/>
              <a:t>Generator</a:t>
            </a:r>
            <a:r>
              <a:rPr lang="en-US" sz="3200" dirty="0"/>
              <a:t> and a </a:t>
            </a:r>
            <a:r>
              <a:rPr lang="en-US" sz="3200" b="1" dirty="0"/>
              <a:t>Discriminator</a:t>
            </a:r>
            <a:r>
              <a:rPr lang="en-US" sz="3200" dirty="0"/>
              <a:t> — that compete with each other to create data that looks real.</a:t>
            </a:r>
            <a:endParaRPr lang="en-IN" sz="3200" dirty="0"/>
          </a:p>
        </p:txBody>
      </p:sp>
    </p:spTree>
    <p:extLst>
      <p:ext uri="{BB962C8B-B14F-4D97-AF65-F5344CB8AC3E}">
        <p14:creationId xmlns:p14="http://schemas.microsoft.com/office/powerpoint/2010/main" val="22341536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BE0645-585F-E7BC-BF17-51E8D4EA926B}"/>
              </a:ext>
            </a:extLst>
          </p:cNvPr>
          <p:cNvSpPr>
            <a:spLocks noGrp="1"/>
          </p:cNvSpPr>
          <p:nvPr>
            <p:ph idx="1"/>
          </p:nvPr>
        </p:nvSpPr>
        <p:spPr>
          <a:xfrm>
            <a:off x="235789" y="201284"/>
            <a:ext cx="11737675" cy="5848708"/>
          </a:xfrm>
        </p:spPr>
        <p:txBody>
          <a:bodyPr/>
          <a:lstStyle/>
          <a:p>
            <a:pPr marL="0" indent="0">
              <a:buNone/>
            </a:pPr>
            <a:endParaRPr lang="en-IN" dirty="0"/>
          </a:p>
          <a:p>
            <a:pPr marL="0" indent="0">
              <a:buNone/>
            </a:pPr>
            <a:endParaRPr lang="en-IN" dirty="0"/>
          </a:p>
          <a:p>
            <a:pPr marL="0" indent="0">
              <a:buNone/>
            </a:pPr>
            <a:r>
              <a:rPr lang="en-IN" b="1" dirty="0"/>
              <a:t>                               </a:t>
            </a:r>
            <a:r>
              <a:rPr lang="en-IN" sz="3200" b="1" dirty="0"/>
              <a:t>Generative Adversarial Network (GAN)</a:t>
            </a:r>
          </a:p>
          <a:p>
            <a:pPr marL="0" indent="0">
              <a:buNone/>
            </a:pPr>
            <a:r>
              <a:rPr lang="en-US" b="1" dirty="0"/>
              <a:t>                                                      </a:t>
            </a:r>
            <a:r>
              <a:rPr lang="en-US" sz="3200" b="1" dirty="0"/>
              <a:t>How it works</a:t>
            </a:r>
            <a:endParaRPr lang="en-US" sz="3200" dirty="0"/>
          </a:p>
          <a:p>
            <a:pPr marL="0" indent="0">
              <a:buNone/>
            </a:pPr>
            <a:r>
              <a:rPr lang="en-US" sz="3200" b="1" dirty="0"/>
              <a:t>Generator:</a:t>
            </a:r>
            <a:r>
              <a:rPr lang="en-US" sz="3200" dirty="0"/>
              <a:t> Creates fake data (like images or sounds).</a:t>
            </a:r>
          </a:p>
          <a:p>
            <a:pPr marL="0" indent="0">
              <a:buNone/>
            </a:pPr>
            <a:r>
              <a:rPr lang="en-US" sz="3200" b="1" dirty="0"/>
              <a:t>Discriminator:</a:t>
            </a:r>
            <a:r>
              <a:rPr lang="en-US" sz="3200" dirty="0"/>
              <a:t> Checks if data is real or fake.</a:t>
            </a:r>
          </a:p>
          <a:p>
            <a:pPr marL="0" indent="0">
              <a:buNone/>
            </a:pPr>
            <a:r>
              <a:rPr lang="en-US" sz="3200" dirty="0"/>
              <a:t>Both improve through competition, making results more realistic.</a:t>
            </a:r>
            <a:endParaRPr lang="en-US" dirty="0"/>
          </a:p>
          <a:p>
            <a:pPr marL="0" indent="0">
              <a:buNone/>
            </a:pPr>
            <a:endParaRPr lang="en-IN" dirty="0"/>
          </a:p>
        </p:txBody>
      </p:sp>
    </p:spTree>
    <p:extLst>
      <p:ext uri="{BB962C8B-B14F-4D97-AF65-F5344CB8AC3E}">
        <p14:creationId xmlns:p14="http://schemas.microsoft.com/office/powerpoint/2010/main" val="3981072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9306A9-F564-0768-63D3-C89BFC33E3AD}"/>
              </a:ext>
            </a:extLst>
          </p:cNvPr>
          <p:cNvSpPr>
            <a:spLocks noGrp="1"/>
          </p:cNvSpPr>
          <p:nvPr>
            <p:ph idx="1"/>
          </p:nvPr>
        </p:nvSpPr>
        <p:spPr>
          <a:xfrm>
            <a:off x="143775" y="253042"/>
            <a:ext cx="11818188" cy="5808452"/>
          </a:xfrm>
        </p:spPr>
        <p:txBody>
          <a:bodyPr/>
          <a:lstStyle/>
          <a:p>
            <a:pPr marL="0" indent="0">
              <a:buNone/>
            </a:pPr>
            <a:endParaRPr lang="en-IN" dirty="0"/>
          </a:p>
          <a:p>
            <a:pPr marL="0" indent="0">
              <a:buNone/>
            </a:pPr>
            <a:endParaRPr lang="en-IN" dirty="0"/>
          </a:p>
          <a:p>
            <a:pPr marL="0" indent="0" algn="ctr">
              <a:buNone/>
            </a:pPr>
            <a:r>
              <a:rPr lang="en-IN" sz="3200" b="1" dirty="0"/>
              <a:t>Generative Adversarial Network (GAN)</a:t>
            </a:r>
          </a:p>
          <a:p>
            <a:pPr marL="0" indent="0">
              <a:buNone/>
            </a:pPr>
            <a:r>
              <a:rPr lang="en-US" sz="3200" b="1" dirty="0"/>
              <a:t>Example:</a:t>
            </a:r>
            <a:br>
              <a:rPr lang="en-US" sz="3200" dirty="0"/>
            </a:br>
            <a:r>
              <a:rPr lang="en-US" sz="3200" dirty="0"/>
              <a:t>A </a:t>
            </a:r>
            <a:r>
              <a:rPr lang="en-US" sz="3200" b="1" dirty="0"/>
              <a:t>student (Generator)</a:t>
            </a:r>
            <a:r>
              <a:rPr lang="en-US" sz="3200" dirty="0"/>
              <a:t> draws fake currency notes,</a:t>
            </a:r>
            <a:br>
              <a:rPr lang="en-US" sz="3200" dirty="0"/>
            </a:br>
            <a:r>
              <a:rPr lang="en-US" sz="3200" dirty="0"/>
              <a:t>and a </a:t>
            </a:r>
            <a:r>
              <a:rPr lang="en-US" sz="3200" b="1" dirty="0"/>
              <a:t>teacher (Discriminator)</a:t>
            </a:r>
            <a:r>
              <a:rPr lang="en-US" sz="3200" dirty="0"/>
              <a:t> checks if they’re real or fake.</a:t>
            </a:r>
            <a:br>
              <a:rPr lang="en-US" sz="3200" dirty="0"/>
            </a:br>
            <a:r>
              <a:rPr lang="en-US" sz="3200" dirty="0"/>
              <a:t>Over time, both get better!</a:t>
            </a:r>
            <a:endParaRPr lang="en-IN" sz="3200" dirty="0"/>
          </a:p>
        </p:txBody>
      </p:sp>
    </p:spTree>
    <p:extLst>
      <p:ext uri="{BB962C8B-B14F-4D97-AF65-F5344CB8AC3E}">
        <p14:creationId xmlns:p14="http://schemas.microsoft.com/office/powerpoint/2010/main" val="1470266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457951-4257-3245-7310-9CC0860539AE}"/>
              </a:ext>
            </a:extLst>
          </p:cNvPr>
          <p:cNvSpPr>
            <a:spLocks noGrp="1"/>
          </p:cNvSpPr>
          <p:nvPr>
            <p:ph idx="1"/>
          </p:nvPr>
        </p:nvSpPr>
        <p:spPr>
          <a:xfrm>
            <a:off x="149525" y="230038"/>
            <a:ext cx="11864196" cy="5825705"/>
          </a:xfrm>
        </p:spPr>
        <p:txBody>
          <a:bodyPr/>
          <a:lstStyle/>
          <a:p>
            <a:pPr marL="0" indent="0">
              <a:buNone/>
            </a:pPr>
            <a:endParaRPr lang="en-IN" dirty="0"/>
          </a:p>
          <a:p>
            <a:pPr marL="0" indent="0">
              <a:buNone/>
            </a:pPr>
            <a:endParaRPr lang="en-IN" dirty="0"/>
          </a:p>
          <a:p>
            <a:pPr marL="0" indent="0">
              <a:buNone/>
            </a:pPr>
            <a:r>
              <a:rPr lang="en-IN" dirty="0"/>
              <a:t>                                                                  </a:t>
            </a:r>
            <a:r>
              <a:rPr lang="en-IN" sz="3200" dirty="0"/>
              <a:t>Computer Vision</a:t>
            </a:r>
          </a:p>
          <a:p>
            <a:pPr marL="0" indent="0">
              <a:buNone/>
            </a:pPr>
            <a:endParaRPr lang="en-IN" sz="3200" dirty="0"/>
          </a:p>
          <a:p>
            <a:pPr marL="0" indent="0">
              <a:buNone/>
            </a:pPr>
            <a:r>
              <a:rPr lang="en-US" sz="3200" dirty="0"/>
              <a:t>Computer Vision is a field of </a:t>
            </a:r>
            <a:r>
              <a:rPr lang="en-US" sz="3200" b="1" dirty="0"/>
              <a:t>Artificial Intelligence (AI)</a:t>
            </a:r>
            <a:r>
              <a:rPr lang="en-US" sz="3200" dirty="0"/>
              <a:t> that enables </a:t>
            </a:r>
            <a:r>
              <a:rPr lang="en-US" sz="3200" b="1" dirty="0"/>
              <a:t>computers to see, understand, and interpret images and videos</a:t>
            </a:r>
            <a:r>
              <a:rPr lang="en-US" sz="3200" dirty="0"/>
              <a:t> just like humans…</a:t>
            </a:r>
            <a:endParaRPr lang="en-IN" sz="3200" dirty="0"/>
          </a:p>
        </p:txBody>
      </p:sp>
    </p:spTree>
    <p:extLst>
      <p:ext uri="{BB962C8B-B14F-4D97-AF65-F5344CB8AC3E}">
        <p14:creationId xmlns:p14="http://schemas.microsoft.com/office/powerpoint/2010/main" val="9464984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DD0C0D-B695-E214-6C33-D60F72AB2E3A}"/>
              </a:ext>
            </a:extLst>
          </p:cNvPr>
          <p:cNvSpPr>
            <a:spLocks noGrp="1"/>
          </p:cNvSpPr>
          <p:nvPr>
            <p:ph idx="1"/>
          </p:nvPr>
        </p:nvSpPr>
        <p:spPr>
          <a:xfrm>
            <a:off x="120771" y="218536"/>
            <a:ext cx="11766430" cy="5773947"/>
          </a:xfrm>
        </p:spPr>
        <p:txBody>
          <a:bodyPr>
            <a:normAutofit fontScale="77500" lnSpcReduction="20000"/>
          </a:bodyPr>
          <a:lstStyle/>
          <a:p>
            <a:pPr marL="0" indent="0" algn="ctr">
              <a:buNone/>
            </a:pPr>
            <a:endParaRPr lang="en-IN" sz="3200" dirty="0"/>
          </a:p>
          <a:p>
            <a:pPr marL="0" indent="0" algn="ctr">
              <a:buNone/>
            </a:pPr>
            <a:endParaRPr lang="en-IN" sz="3200" dirty="0"/>
          </a:p>
          <a:p>
            <a:pPr marL="0" indent="0" algn="ctr">
              <a:buNone/>
            </a:pPr>
            <a:r>
              <a:rPr lang="en-IN" sz="4600" dirty="0"/>
              <a:t>Computer Vision</a:t>
            </a:r>
          </a:p>
          <a:p>
            <a:pPr marL="0" indent="0">
              <a:buNone/>
            </a:pPr>
            <a:r>
              <a:rPr lang="en-US" sz="3800" b="1" dirty="0"/>
              <a:t>                                             </a:t>
            </a:r>
            <a:r>
              <a:rPr lang="en-US" sz="3800" dirty="0"/>
              <a:t>How it works </a:t>
            </a:r>
          </a:p>
          <a:p>
            <a:pPr marL="0" indent="0">
              <a:buNone/>
            </a:pPr>
            <a:r>
              <a:rPr lang="en-US" sz="3800" dirty="0"/>
              <a:t>A computer takes an </a:t>
            </a:r>
            <a:r>
              <a:rPr lang="en-US" sz="3800" b="1" dirty="0"/>
              <a:t>image or video</a:t>
            </a:r>
            <a:r>
              <a:rPr lang="en-US" sz="3800" dirty="0"/>
              <a:t> as input.</a:t>
            </a:r>
          </a:p>
          <a:p>
            <a:pPr marL="0" indent="0">
              <a:buNone/>
            </a:pPr>
            <a:r>
              <a:rPr lang="en-US" sz="3800" dirty="0"/>
              <a:t>It </a:t>
            </a:r>
            <a:r>
              <a:rPr lang="en-US" sz="3800" b="1" dirty="0"/>
              <a:t>analyzes</a:t>
            </a:r>
            <a:r>
              <a:rPr lang="en-US" sz="3800" dirty="0"/>
              <a:t> shapes, colors, and patterns.</a:t>
            </a:r>
          </a:p>
          <a:p>
            <a:pPr marL="0" indent="0">
              <a:buNone/>
            </a:pPr>
            <a:r>
              <a:rPr lang="en-US" sz="3800" dirty="0"/>
              <a:t> Then it </a:t>
            </a:r>
            <a:r>
              <a:rPr lang="en-US" sz="3800" b="1" dirty="0"/>
              <a:t>understands</a:t>
            </a:r>
            <a:r>
              <a:rPr lang="en-US" sz="3800" dirty="0"/>
              <a:t> what the image means — like identifying objects, faces, or actions.</a:t>
            </a:r>
          </a:p>
          <a:p>
            <a:pPr marL="0" indent="0">
              <a:buNone/>
            </a:pPr>
            <a:r>
              <a:rPr lang="en-US" sz="3800" b="1" dirty="0"/>
              <a:t>Example:</a:t>
            </a:r>
          </a:p>
          <a:p>
            <a:pPr marL="0" indent="0">
              <a:buNone/>
            </a:pPr>
            <a:r>
              <a:rPr lang="en-US" sz="3800" dirty="0"/>
              <a:t>Face unlock on your phone </a:t>
            </a:r>
          </a:p>
          <a:p>
            <a:pPr marL="0" indent="0">
              <a:buNone/>
            </a:pPr>
            <a:endParaRPr lang="en-US" dirty="0"/>
          </a:p>
          <a:p>
            <a:pPr marL="0" indent="0" algn="ctr">
              <a:buNone/>
            </a:pPr>
            <a:endParaRPr lang="en-IN" dirty="0"/>
          </a:p>
        </p:txBody>
      </p:sp>
    </p:spTree>
    <p:extLst>
      <p:ext uri="{BB962C8B-B14F-4D97-AF65-F5344CB8AC3E}">
        <p14:creationId xmlns:p14="http://schemas.microsoft.com/office/powerpoint/2010/main" val="2035046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7C264D-BBCC-D949-CC80-E8700125E002}"/>
              </a:ext>
            </a:extLst>
          </p:cNvPr>
          <p:cNvSpPr>
            <a:spLocks noGrp="1"/>
          </p:cNvSpPr>
          <p:nvPr>
            <p:ph idx="1"/>
          </p:nvPr>
        </p:nvSpPr>
        <p:spPr>
          <a:xfrm>
            <a:off x="207034" y="155276"/>
            <a:ext cx="11806687" cy="5796950"/>
          </a:xfrm>
        </p:spPr>
        <p:txBody>
          <a:bodyPr/>
          <a:lstStyle/>
          <a:p>
            <a:pPr marL="0" indent="0">
              <a:buNone/>
            </a:pPr>
            <a:endParaRPr lang="en-IN" dirty="0"/>
          </a:p>
          <a:p>
            <a:pPr marL="0" indent="0">
              <a:buNone/>
            </a:pPr>
            <a:endParaRPr lang="en-IN" dirty="0"/>
          </a:p>
          <a:p>
            <a:pPr marL="0" indent="0" algn="ctr">
              <a:buNone/>
            </a:pPr>
            <a:r>
              <a:rPr lang="en-US" sz="3200" b="1" dirty="0"/>
              <a:t>Logistic Regression in Machine Learning</a:t>
            </a:r>
          </a:p>
          <a:p>
            <a:pPr marL="0" indent="0">
              <a:buNone/>
            </a:pPr>
            <a:br>
              <a:rPr lang="en-US" sz="3200" dirty="0"/>
            </a:br>
            <a:r>
              <a:rPr lang="en-US" sz="3200" dirty="0"/>
              <a:t>Logistic Regression is a </a:t>
            </a:r>
            <a:r>
              <a:rPr lang="en-US" sz="3200" b="1" dirty="0"/>
              <a:t>supervised learning algorithm</a:t>
            </a:r>
            <a:r>
              <a:rPr lang="en-US" sz="3200" dirty="0"/>
              <a:t> used for </a:t>
            </a:r>
            <a:r>
              <a:rPr lang="en-US" sz="3200" b="1" dirty="0"/>
              <a:t>classification problems</a:t>
            </a:r>
            <a:r>
              <a:rPr lang="en-US" sz="3200" dirty="0"/>
              <a:t>, where the output is </a:t>
            </a:r>
            <a:r>
              <a:rPr lang="en-US" sz="3200" b="1" dirty="0"/>
              <a:t>categorical</a:t>
            </a:r>
            <a:r>
              <a:rPr lang="en-US" sz="3200" dirty="0"/>
              <a:t> (e.g., Yes/No, 0/1)</a:t>
            </a:r>
            <a:br>
              <a:rPr lang="en-US" sz="3200" dirty="0"/>
            </a:br>
            <a:r>
              <a:rPr lang="en-US" sz="3200" dirty="0"/>
              <a:t>It predicts the </a:t>
            </a:r>
            <a:r>
              <a:rPr lang="en-US" sz="3200" b="1" dirty="0"/>
              <a:t>probability</a:t>
            </a:r>
            <a:r>
              <a:rPr lang="en-US" sz="3200" dirty="0"/>
              <a:t> of an event happening using a </a:t>
            </a:r>
            <a:r>
              <a:rPr lang="en-US" sz="3200" b="1" dirty="0"/>
              <a:t>sigmoid (S-shaped) curve</a:t>
            </a:r>
            <a:r>
              <a:rPr lang="en-US" sz="3200" dirty="0"/>
              <a:t>.</a:t>
            </a:r>
          </a:p>
          <a:p>
            <a:pPr marL="0" indent="0">
              <a:buNone/>
            </a:pPr>
            <a:endParaRPr lang="en-IN" dirty="0"/>
          </a:p>
        </p:txBody>
      </p:sp>
    </p:spTree>
    <p:extLst>
      <p:ext uri="{BB962C8B-B14F-4D97-AF65-F5344CB8AC3E}">
        <p14:creationId xmlns:p14="http://schemas.microsoft.com/office/powerpoint/2010/main" val="41012260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974452-DE0C-BB0E-3B4D-4DC0EBC5B371}"/>
              </a:ext>
            </a:extLst>
          </p:cNvPr>
          <p:cNvSpPr>
            <a:spLocks noGrp="1"/>
          </p:cNvSpPr>
          <p:nvPr>
            <p:ph idx="1"/>
          </p:nvPr>
        </p:nvSpPr>
        <p:spPr>
          <a:xfrm>
            <a:off x="166777" y="218536"/>
            <a:ext cx="11772181" cy="5819955"/>
          </a:xfrm>
        </p:spPr>
        <p:txBody>
          <a:bodyPr/>
          <a:lstStyle/>
          <a:p>
            <a:pPr marL="0" indent="0">
              <a:buNone/>
            </a:pPr>
            <a:endParaRPr lang="en-IN" dirty="0"/>
          </a:p>
        </p:txBody>
      </p:sp>
      <p:pic>
        <p:nvPicPr>
          <p:cNvPr id="5" name="Picture 4">
            <a:extLst>
              <a:ext uri="{FF2B5EF4-FFF2-40B4-BE49-F238E27FC236}">
                <a16:creationId xmlns:a16="http://schemas.microsoft.com/office/drawing/2014/main" id="{13774B8F-1D78-7215-8FD1-04D6413BF3AB}"/>
              </a:ext>
            </a:extLst>
          </p:cNvPr>
          <p:cNvPicPr>
            <a:picLocks noChangeAspect="1"/>
          </p:cNvPicPr>
          <p:nvPr/>
        </p:nvPicPr>
        <p:blipFill>
          <a:blip r:embed="rId2"/>
          <a:stretch>
            <a:fillRect/>
          </a:stretch>
        </p:blipFill>
        <p:spPr>
          <a:xfrm>
            <a:off x="1058174" y="324250"/>
            <a:ext cx="10570234" cy="5562356"/>
          </a:xfrm>
          <a:prstGeom prst="rect">
            <a:avLst/>
          </a:prstGeom>
        </p:spPr>
      </p:pic>
    </p:spTree>
    <p:extLst>
      <p:ext uri="{BB962C8B-B14F-4D97-AF65-F5344CB8AC3E}">
        <p14:creationId xmlns:p14="http://schemas.microsoft.com/office/powerpoint/2010/main" val="9388650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99A42A-47DD-B9CD-9A01-3145CD4904AA}"/>
              </a:ext>
            </a:extLst>
          </p:cNvPr>
          <p:cNvSpPr>
            <a:spLocks noGrp="1"/>
          </p:cNvSpPr>
          <p:nvPr>
            <p:ph idx="1"/>
          </p:nvPr>
        </p:nvSpPr>
        <p:spPr>
          <a:xfrm>
            <a:off x="120771" y="178280"/>
            <a:ext cx="11800936" cy="5831456"/>
          </a:xfrm>
        </p:spPr>
        <p:txBody>
          <a:bodyPr/>
          <a:lstStyle/>
          <a:p>
            <a:pPr marL="0" indent="0">
              <a:buNone/>
            </a:pPr>
            <a:endParaRPr lang="en-US" b="1" dirty="0"/>
          </a:p>
          <a:p>
            <a:pPr marL="0" indent="0">
              <a:buNone/>
            </a:pPr>
            <a:endParaRPr lang="en-US" b="1" dirty="0"/>
          </a:p>
          <a:p>
            <a:pPr marL="0" indent="0" algn="ctr">
              <a:buNone/>
            </a:pPr>
            <a:r>
              <a:rPr lang="en-US" sz="3200" b="1" dirty="0"/>
              <a:t>Deep Learning Ecosystem</a:t>
            </a:r>
          </a:p>
          <a:p>
            <a:endParaRPr lang="en-US" sz="3200" b="1" dirty="0"/>
          </a:p>
          <a:p>
            <a:pPr marL="0" indent="0">
              <a:buNone/>
            </a:pPr>
            <a:r>
              <a:rPr lang="en-US" sz="3200" dirty="0"/>
              <a:t>Deep Learning is a subset of </a:t>
            </a:r>
            <a:r>
              <a:rPr lang="en-US" sz="3200" b="1" dirty="0"/>
              <a:t>Machine Learning</a:t>
            </a:r>
            <a:r>
              <a:rPr lang="en-US" sz="3200" dirty="0"/>
              <a:t> that uses </a:t>
            </a:r>
            <a:r>
              <a:rPr lang="en-US" sz="3200" b="1" dirty="0"/>
              <a:t>neural networks with multiple layers</a:t>
            </a:r>
            <a:r>
              <a:rPr lang="en-US" sz="3200" dirty="0"/>
              <a:t> to learn complex patterns from large amounts of data.</a:t>
            </a:r>
          </a:p>
          <a:p>
            <a:pPr marL="0" indent="0">
              <a:buNone/>
            </a:pPr>
            <a:endParaRPr lang="en-IN" dirty="0"/>
          </a:p>
        </p:txBody>
      </p:sp>
    </p:spTree>
    <p:extLst>
      <p:ext uri="{BB962C8B-B14F-4D97-AF65-F5344CB8AC3E}">
        <p14:creationId xmlns:p14="http://schemas.microsoft.com/office/powerpoint/2010/main" val="18706898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1394EB-145C-5DF5-06D5-E8606B180C16}"/>
              </a:ext>
            </a:extLst>
          </p:cNvPr>
          <p:cNvSpPr>
            <a:spLocks noGrp="1"/>
          </p:cNvSpPr>
          <p:nvPr>
            <p:ph idx="1"/>
          </p:nvPr>
        </p:nvSpPr>
        <p:spPr>
          <a:xfrm>
            <a:off x="184030" y="132272"/>
            <a:ext cx="11829691" cy="5888966"/>
          </a:xfrm>
        </p:spPr>
        <p:txBody>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pic>
        <p:nvPicPr>
          <p:cNvPr id="5" name="Picture 4">
            <a:extLst>
              <a:ext uri="{FF2B5EF4-FFF2-40B4-BE49-F238E27FC236}">
                <a16:creationId xmlns:a16="http://schemas.microsoft.com/office/drawing/2014/main" id="{F7687A3D-A1B6-3BAA-7D8F-9CBB07113A71}"/>
              </a:ext>
            </a:extLst>
          </p:cNvPr>
          <p:cNvPicPr>
            <a:picLocks noChangeAspect="1"/>
          </p:cNvPicPr>
          <p:nvPr/>
        </p:nvPicPr>
        <p:blipFill>
          <a:blip r:embed="rId2"/>
          <a:stretch>
            <a:fillRect/>
          </a:stretch>
        </p:blipFill>
        <p:spPr>
          <a:xfrm>
            <a:off x="1732271" y="132272"/>
            <a:ext cx="8245615" cy="5774907"/>
          </a:xfrm>
          <a:prstGeom prst="rect">
            <a:avLst/>
          </a:prstGeom>
        </p:spPr>
      </p:pic>
    </p:spTree>
    <p:extLst>
      <p:ext uri="{BB962C8B-B14F-4D97-AF65-F5344CB8AC3E}">
        <p14:creationId xmlns:p14="http://schemas.microsoft.com/office/powerpoint/2010/main" val="15323461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923592-C44B-B052-BEE4-DF32190C7400}"/>
              </a:ext>
            </a:extLst>
          </p:cNvPr>
          <p:cNvSpPr>
            <a:spLocks noGrp="1"/>
          </p:cNvSpPr>
          <p:nvPr>
            <p:ph idx="1"/>
          </p:nvPr>
        </p:nvSpPr>
        <p:spPr>
          <a:xfrm>
            <a:off x="143774" y="207034"/>
            <a:ext cx="11800935" cy="5819955"/>
          </a:xfrm>
        </p:spPr>
        <p:txBody>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US" sz="3200" b="1" dirty="0"/>
              <a:t>Input Layer </a:t>
            </a:r>
            <a:endParaRPr lang="en-US" sz="3200" dirty="0"/>
          </a:p>
          <a:p>
            <a:pPr lvl="1"/>
            <a:r>
              <a:rPr lang="en-US" sz="3200" dirty="0"/>
              <a:t>This layer receives the raw data (e.g., images, numbers, or features).</a:t>
            </a:r>
          </a:p>
          <a:p>
            <a:pPr lvl="1"/>
            <a:r>
              <a:rPr lang="en-US" sz="3200" dirty="0"/>
              <a:t>Each </a:t>
            </a:r>
            <a:r>
              <a:rPr lang="en-US" sz="3200" b="1" dirty="0"/>
              <a:t>circle represents </a:t>
            </a:r>
            <a:r>
              <a:rPr lang="en-US" sz="3200" dirty="0"/>
              <a:t>one input feature.</a:t>
            </a:r>
          </a:p>
          <a:p>
            <a:pPr marL="0" indent="0">
              <a:buNone/>
            </a:pPr>
            <a:endParaRPr lang="en-IN" dirty="0"/>
          </a:p>
        </p:txBody>
      </p:sp>
    </p:spTree>
    <p:extLst>
      <p:ext uri="{BB962C8B-B14F-4D97-AF65-F5344CB8AC3E}">
        <p14:creationId xmlns:p14="http://schemas.microsoft.com/office/powerpoint/2010/main" val="19317259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2A7B96-7C8F-C866-2EFC-A5D5CD5070D7}"/>
              </a:ext>
            </a:extLst>
          </p:cNvPr>
          <p:cNvSpPr>
            <a:spLocks noGrp="1"/>
          </p:cNvSpPr>
          <p:nvPr>
            <p:ph idx="1"/>
          </p:nvPr>
        </p:nvSpPr>
        <p:spPr>
          <a:xfrm>
            <a:off x="373811" y="235790"/>
            <a:ext cx="11363864" cy="5750942"/>
          </a:xfrm>
        </p:spPr>
        <p:txBody>
          <a:bodyPr>
            <a:normAutofit/>
          </a:bodyPr>
          <a:lstStyle/>
          <a:p>
            <a:pPr marL="0" indent="0">
              <a:buNone/>
            </a:pPr>
            <a:r>
              <a:rPr lang="en-US" sz="3200" b="1" dirty="0"/>
              <a:t>Hidden Layers </a:t>
            </a:r>
            <a:endParaRPr lang="en-US" sz="3200" dirty="0"/>
          </a:p>
          <a:p>
            <a:pPr>
              <a:lnSpc>
                <a:spcPct val="150000"/>
              </a:lnSpc>
            </a:pPr>
            <a:r>
              <a:rPr lang="en-US" sz="3200" dirty="0"/>
              <a:t> These are called </a:t>
            </a:r>
            <a:r>
              <a:rPr lang="en-US" sz="3200" b="1" dirty="0"/>
              <a:t>hidden layers</a:t>
            </a:r>
            <a:r>
              <a:rPr lang="en-US" sz="3200" dirty="0"/>
              <a:t> because they are not visible in the input or output.</a:t>
            </a:r>
          </a:p>
          <a:p>
            <a:r>
              <a:rPr lang="en-US" sz="3200" dirty="0"/>
              <a:t>Each layer processes the information and finds </a:t>
            </a:r>
            <a:r>
              <a:rPr lang="en-US" sz="3200" b="1" dirty="0"/>
              <a:t>patterns or relationships</a:t>
            </a:r>
          </a:p>
          <a:p>
            <a:r>
              <a:rPr lang="en-US" sz="3200" b="1" dirty="0"/>
              <a:t>Output Layer </a:t>
            </a:r>
            <a:endParaRPr lang="en-US" sz="3200" dirty="0"/>
          </a:p>
          <a:p>
            <a:r>
              <a:rPr lang="en-US" sz="3200" dirty="0"/>
              <a:t>This layer gives the </a:t>
            </a:r>
            <a:r>
              <a:rPr lang="en-US" sz="3200" b="1" dirty="0"/>
              <a:t>final prediction or result</a:t>
            </a:r>
            <a:r>
              <a:rPr lang="en-US" sz="3200" dirty="0"/>
              <a:t>.</a:t>
            </a:r>
          </a:p>
          <a:p>
            <a:pPr marL="0" indent="0">
              <a:buNone/>
            </a:pPr>
            <a:endParaRPr lang="en-US" sz="3200" dirty="0"/>
          </a:p>
          <a:p>
            <a:pPr marL="0" indent="0">
              <a:buNone/>
            </a:pPr>
            <a:endParaRPr lang="en-IN" dirty="0"/>
          </a:p>
        </p:txBody>
      </p:sp>
    </p:spTree>
    <p:extLst>
      <p:ext uri="{BB962C8B-B14F-4D97-AF65-F5344CB8AC3E}">
        <p14:creationId xmlns:p14="http://schemas.microsoft.com/office/powerpoint/2010/main" val="21380100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83CC38-5031-445B-4837-CFDBBA014582}"/>
              </a:ext>
            </a:extLst>
          </p:cNvPr>
          <p:cNvSpPr>
            <a:spLocks noGrp="1"/>
          </p:cNvSpPr>
          <p:nvPr>
            <p:ph idx="1"/>
          </p:nvPr>
        </p:nvSpPr>
        <p:spPr>
          <a:xfrm>
            <a:off x="253043" y="379562"/>
            <a:ext cx="11513388" cy="5086783"/>
          </a:xfrm>
        </p:spPr>
        <p:txBody>
          <a:bodyPr>
            <a:normAutofit/>
          </a:bodyPr>
          <a:lstStyle/>
          <a:p>
            <a:pPr marL="0" indent="0">
              <a:buNone/>
            </a:pPr>
            <a:endParaRPr lang="en-IN" dirty="0"/>
          </a:p>
          <a:p>
            <a:pPr marL="0" indent="0" algn="ctr">
              <a:buNone/>
            </a:pPr>
            <a:endParaRPr lang="en-IN" dirty="0"/>
          </a:p>
          <a:p>
            <a:pPr marL="0" indent="0" algn="ctr">
              <a:buNone/>
            </a:pPr>
            <a:r>
              <a:rPr lang="en-IN" sz="3200" dirty="0"/>
              <a:t>Limitations of Generative AI</a:t>
            </a:r>
          </a:p>
          <a:p>
            <a:pPr marL="0" indent="0">
              <a:buNone/>
            </a:pPr>
            <a:r>
              <a:rPr lang="en-US" sz="3200" b="1" dirty="0"/>
              <a:t>Lack of Accuracy:</a:t>
            </a:r>
          </a:p>
          <a:p>
            <a:pPr marL="0" indent="0" algn="ctr">
              <a:buNone/>
            </a:pPr>
            <a:r>
              <a:rPr lang="en-US" sz="3200" dirty="0"/>
              <a:t>Generative AI sometimes gives </a:t>
            </a:r>
            <a:r>
              <a:rPr lang="en-US" sz="3200" b="1" dirty="0"/>
              <a:t>wrong or misleading answers</a:t>
            </a:r>
            <a:r>
              <a:rPr lang="en-US" sz="3200" dirty="0"/>
              <a:t> because it only predicts patterns — it doesn’t actually </a:t>
            </a:r>
            <a:r>
              <a:rPr lang="en-US" sz="3200" i="1" dirty="0"/>
              <a:t>know</a:t>
            </a:r>
            <a:r>
              <a:rPr lang="en-US" sz="3200" dirty="0"/>
              <a:t> facts. For example, it might write a story with incorrect historical details.</a:t>
            </a:r>
            <a:endParaRPr lang="en-IN" sz="3200" dirty="0"/>
          </a:p>
        </p:txBody>
      </p:sp>
    </p:spTree>
    <p:extLst>
      <p:ext uri="{BB962C8B-B14F-4D97-AF65-F5344CB8AC3E}">
        <p14:creationId xmlns:p14="http://schemas.microsoft.com/office/powerpoint/2010/main" val="11335550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55DA9B-CCD3-F1F3-40B4-41D682862459}"/>
              </a:ext>
            </a:extLst>
          </p:cNvPr>
          <p:cNvSpPr>
            <a:spLocks noGrp="1"/>
          </p:cNvSpPr>
          <p:nvPr>
            <p:ph idx="1"/>
          </p:nvPr>
        </p:nvSpPr>
        <p:spPr>
          <a:xfrm>
            <a:off x="471577" y="322054"/>
            <a:ext cx="11432876" cy="5144292"/>
          </a:xfrm>
        </p:spPr>
        <p:txBody>
          <a:bodyPr/>
          <a:lstStyle/>
          <a:p>
            <a:pPr marL="0" indent="0">
              <a:buNone/>
            </a:pPr>
            <a:endParaRPr lang="en-IN" dirty="0"/>
          </a:p>
          <a:p>
            <a:pPr marL="0" indent="0">
              <a:buNone/>
            </a:pPr>
            <a:endParaRPr lang="en-IN" dirty="0"/>
          </a:p>
          <a:p>
            <a:pPr marL="0" indent="0" algn="ctr">
              <a:buNone/>
            </a:pPr>
            <a:r>
              <a:rPr lang="en-IN" sz="3200" dirty="0"/>
              <a:t>Limitations of Generative AI</a:t>
            </a:r>
          </a:p>
          <a:p>
            <a:pPr marL="0" indent="0">
              <a:buNone/>
            </a:pPr>
            <a:endParaRPr lang="en-IN" dirty="0"/>
          </a:p>
          <a:p>
            <a:pPr marL="0" indent="0">
              <a:buNone/>
            </a:pPr>
            <a:r>
              <a:rPr lang="en-US" sz="3200" b="1" dirty="0"/>
              <a:t>No Real Understanding:</a:t>
            </a:r>
            <a:br>
              <a:rPr lang="en-US" sz="3200" b="1" dirty="0"/>
            </a:br>
            <a:r>
              <a:rPr lang="en-US" sz="3200" dirty="0"/>
              <a:t>AI doesn’t truly “think” or “understand” like humans. It just learns from examples. For instance, it can write a poem about love but doesn’t </a:t>
            </a:r>
            <a:r>
              <a:rPr lang="en-US" sz="3200" i="1" dirty="0"/>
              <a:t>feel</a:t>
            </a:r>
            <a:r>
              <a:rPr lang="en-US" sz="3200" dirty="0"/>
              <a:t> emotions.</a:t>
            </a:r>
            <a:endParaRPr lang="en-IN" sz="3200" dirty="0"/>
          </a:p>
        </p:txBody>
      </p:sp>
    </p:spTree>
    <p:extLst>
      <p:ext uri="{BB962C8B-B14F-4D97-AF65-F5344CB8AC3E}">
        <p14:creationId xmlns:p14="http://schemas.microsoft.com/office/powerpoint/2010/main" val="19374993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BE00F7-9C9F-CF05-58FE-27F0924A6280}"/>
              </a:ext>
            </a:extLst>
          </p:cNvPr>
          <p:cNvSpPr>
            <a:spLocks noGrp="1"/>
          </p:cNvSpPr>
          <p:nvPr>
            <p:ph idx="1"/>
          </p:nvPr>
        </p:nvSpPr>
        <p:spPr>
          <a:xfrm>
            <a:off x="218536" y="195532"/>
            <a:ext cx="11651411" cy="5848710"/>
          </a:xfrm>
        </p:spPr>
        <p:txBody>
          <a:bodyPr/>
          <a:lstStyle/>
          <a:p>
            <a:pPr marL="0" indent="0">
              <a:buNone/>
            </a:pPr>
            <a:endParaRPr lang="en-IN" dirty="0"/>
          </a:p>
          <a:p>
            <a:pPr marL="0" indent="0">
              <a:buNone/>
            </a:pPr>
            <a:endParaRPr lang="en-IN" dirty="0"/>
          </a:p>
          <a:p>
            <a:pPr marL="0" indent="0" algn="ctr">
              <a:buNone/>
            </a:pPr>
            <a:r>
              <a:rPr lang="en-IN" sz="3200" dirty="0"/>
              <a:t>Limitations of Generative AI</a:t>
            </a:r>
          </a:p>
          <a:p>
            <a:pPr marL="0" indent="0">
              <a:buNone/>
            </a:pPr>
            <a:r>
              <a:rPr lang="en-US" sz="3200" b="1" dirty="0"/>
              <a:t>High Cost and Energy Use:</a:t>
            </a:r>
            <a:br>
              <a:rPr lang="en-US" sz="3200" dirty="0"/>
            </a:br>
            <a:r>
              <a:rPr lang="en-US" sz="3200" dirty="0"/>
              <a:t>Training and running AI models require </a:t>
            </a:r>
            <a:r>
              <a:rPr lang="en-US" sz="3200" b="1" dirty="0"/>
              <a:t>powerful computers</a:t>
            </a:r>
            <a:r>
              <a:rPr lang="en-US" sz="3200" dirty="0"/>
              <a:t> and a lot of energy, which makes it expensive and not very eco-friendly</a:t>
            </a:r>
          </a:p>
          <a:p>
            <a:pPr marL="0" indent="0">
              <a:buNone/>
            </a:pPr>
            <a:r>
              <a:rPr lang="en-US" sz="3200" b="1" dirty="0"/>
              <a:t>Risk of Misinformation:</a:t>
            </a:r>
            <a:br>
              <a:rPr lang="en-US" sz="3200" dirty="0"/>
            </a:br>
            <a:r>
              <a:rPr lang="en-US" sz="3200" dirty="0"/>
              <a:t>AI can be used to make </a:t>
            </a:r>
            <a:r>
              <a:rPr lang="en-US" sz="3200" b="1" dirty="0"/>
              <a:t>fake news, false images, or deepfake videos</a:t>
            </a:r>
            <a:r>
              <a:rPr lang="en-US" sz="3200" dirty="0"/>
              <a:t>, which can easily mislead people</a:t>
            </a:r>
            <a:endParaRPr lang="en-IN" sz="3200" dirty="0"/>
          </a:p>
        </p:txBody>
      </p:sp>
    </p:spTree>
    <p:extLst>
      <p:ext uri="{BB962C8B-B14F-4D97-AF65-F5344CB8AC3E}">
        <p14:creationId xmlns:p14="http://schemas.microsoft.com/office/powerpoint/2010/main" val="1649705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6978F3-B0D7-472E-73F1-E9D016F102F4}"/>
              </a:ext>
            </a:extLst>
          </p:cNvPr>
          <p:cNvSpPr>
            <a:spLocks noGrp="1"/>
          </p:cNvSpPr>
          <p:nvPr>
            <p:ph idx="1"/>
          </p:nvPr>
        </p:nvSpPr>
        <p:spPr>
          <a:xfrm>
            <a:off x="212785" y="287547"/>
            <a:ext cx="11685917" cy="5693433"/>
          </a:xfrm>
        </p:spPr>
        <p:txBody>
          <a:bodyPr/>
          <a:lstStyle/>
          <a:p>
            <a:pPr marL="0" indent="0">
              <a:buNone/>
            </a:pPr>
            <a:endParaRPr lang="en-IN" dirty="0"/>
          </a:p>
          <a:p>
            <a:pPr marL="0" indent="0">
              <a:buNone/>
            </a:pPr>
            <a:endParaRPr lang="en-IN" dirty="0"/>
          </a:p>
          <a:p>
            <a:pPr marL="0" indent="0" algn="ctr">
              <a:buNone/>
            </a:pPr>
            <a:r>
              <a:rPr lang="en-IN" sz="3200" dirty="0"/>
              <a:t>AI Ethics in Artificial Intelligence</a:t>
            </a:r>
          </a:p>
          <a:p>
            <a:pPr marL="0" indent="0" algn="ctr">
              <a:lnSpc>
                <a:spcPct val="100000"/>
              </a:lnSpc>
              <a:buNone/>
            </a:pPr>
            <a:r>
              <a:rPr lang="en-US" sz="3200" dirty="0"/>
              <a:t>AI Ethics means following </a:t>
            </a:r>
            <a:r>
              <a:rPr lang="en-US" sz="3200" b="1" dirty="0"/>
              <a:t>moral rules and responsible behavior</a:t>
            </a:r>
            <a:r>
              <a:rPr lang="en-US" sz="3200" dirty="0"/>
              <a:t> while creating and using Artificial Intelligence systems</a:t>
            </a:r>
            <a:r>
              <a:rPr lang="en-IN" sz="3200" dirty="0"/>
              <a:t>.</a:t>
            </a:r>
            <a:r>
              <a:rPr lang="en-US" sz="3200" dirty="0"/>
              <a:t>It ensures that AI is used </a:t>
            </a:r>
            <a:r>
              <a:rPr lang="en-US" sz="3200" b="1" dirty="0"/>
              <a:t>fairly, safely, and for the benefit of everyone</a:t>
            </a:r>
            <a:r>
              <a:rPr lang="en-US" sz="3200" dirty="0"/>
              <a:t> not to harm or discriminate.</a:t>
            </a:r>
          </a:p>
          <a:p>
            <a:pPr marL="0" indent="0" algn="ctr">
              <a:lnSpc>
                <a:spcPct val="100000"/>
              </a:lnSpc>
              <a:buNone/>
            </a:pPr>
            <a:r>
              <a:rPr lang="en-US" sz="3200" dirty="0"/>
              <a:t>AI Ethics is about teaching machines to do the right thing — just like we teach people what is right or wrong.</a:t>
            </a:r>
            <a:endParaRPr lang="en-IN" sz="3200" dirty="0"/>
          </a:p>
        </p:txBody>
      </p:sp>
    </p:spTree>
    <p:extLst>
      <p:ext uri="{BB962C8B-B14F-4D97-AF65-F5344CB8AC3E}">
        <p14:creationId xmlns:p14="http://schemas.microsoft.com/office/powerpoint/2010/main" val="18240583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A5C1C3-D655-8B84-A10F-1B919A5EE6B4}"/>
              </a:ext>
            </a:extLst>
          </p:cNvPr>
          <p:cNvSpPr>
            <a:spLocks noGrp="1"/>
          </p:cNvSpPr>
          <p:nvPr>
            <p:ph idx="1"/>
          </p:nvPr>
        </p:nvSpPr>
        <p:spPr>
          <a:xfrm>
            <a:off x="230038" y="207034"/>
            <a:ext cx="11616905" cy="5831457"/>
          </a:xfrm>
        </p:spPr>
        <p:txBody>
          <a:bodyPr/>
          <a:lstStyle/>
          <a:p>
            <a:pPr marL="0" indent="0">
              <a:buNone/>
            </a:pPr>
            <a:endParaRPr lang="en-IN" dirty="0"/>
          </a:p>
          <a:p>
            <a:pPr marL="0" indent="0">
              <a:buNone/>
            </a:pPr>
            <a:endParaRPr lang="en-IN" dirty="0"/>
          </a:p>
          <a:p>
            <a:pPr marL="0" indent="0" algn="ctr">
              <a:buNone/>
            </a:pPr>
            <a:r>
              <a:rPr lang="en-US" sz="3200" dirty="0"/>
              <a:t>Why AI Ethics is Important</a:t>
            </a:r>
          </a:p>
          <a:p>
            <a:pPr marL="0" indent="0">
              <a:buNone/>
            </a:pPr>
            <a:r>
              <a:rPr lang="en-US" sz="3200" dirty="0"/>
              <a:t>AI can make powerful decisions — in health, jobs, education, or law.</a:t>
            </a:r>
            <a:br>
              <a:rPr lang="en-US" sz="3200" dirty="0"/>
            </a:br>
            <a:r>
              <a:rPr lang="en-US" sz="3200" dirty="0"/>
              <a:t>If not used properly, it can:</a:t>
            </a:r>
          </a:p>
          <a:p>
            <a:pPr marL="0" indent="0">
              <a:buNone/>
            </a:pPr>
            <a:r>
              <a:rPr lang="en-US" sz="3200" dirty="0"/>
              <a:t>1.Make unfair decisions</a:t>
            </a:r>
          </a:p>
          <a:p>
            <a:pPr marL="0" indent="0">
              <a:buNone/>
            </a:pPr>
            <a:r>
              <a:rPr lang="en-US" sz="3200" dirty="0"/>
              <a:t>2.Violate privacy</a:t>
            </a:r>
          </a:p>
          <a:p>
            <a:pPr marL="0" indent="0">
              <a:buNone/>
            </a:pPr>
            <a:r>
              <a:rPr lang="en-US" sz="3200" dirty="0"/>
              <a:t>3.Cause harm to people or society</a:t>
            </a:r>
          </a:p>
          <a:p>
            <a:pPr marL="0" indent="0" algn="ctr">
              <a:buNone/>
            </a:pPr>
            <a:endParaRPr lang="en-IN" dirty="0"/>
          </a:p>
        </p:txBody>
      </p:sp>
    </p:spTree>
    <p:extLst>
      <p:ext uri="{BB962C8B-B14F-4D97-AF65-F5344CB8AC3E}">
        <p14:creationId xmlns:p14="http://schemas.microsoft.com/office/powerpoint/2010/main" val="37550782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6EE273-F185-6E34-E986-5F79EE679BD2}"/>
              </a:ext>
            </a:extLst>
          </p:cNvPr>
          <p:cNvSpPr>
            <a:spLocks noGrp="1"/>
          </p:cNvSpPr>
          <p:nvPr>
            <p:ph idx="1"/>
          </p:nvPr>
        </p:nvSpPr>
        <p:spPr>
          <a:xfrm>
            <a:off x="235789" y="184030"/>
            <a:ext cx="11691668" cy="5796951"/>
          </a:xfrm>
        </p:spPr>
        <p:txBody>
          <a:bodyPr/>
          <a:lstStyle/>
          <a:p>
            <a:pPr marL="0" indent="0">
              <a:buNone/>
            </a:pPr>
            <a:endParaRPr lang="en-IN" dirty="0"/>
          </a:p>
          <a:p>
            <a:pPr marL="0" indent="0">
              <a:buNone/>
            </a:pPr>
            <a:endParaRPr lang="en-IN" dirty="0"/>
          </a:p>
          <a:p>
            <a:pPr marL="0" indent="0" algn="ctr">
              <a:buNone/>
            </a:pPr>
            <a:r>
              <a:rPr lang="en-US" sz="3200" dirty="0"/>
              <a:t>Why AI Ethics is Important</a:t>
            </a:r>
          </a:p>
          <a:p>
            <a:pPr marL="0" indent="0">
              <a:buNone/>
            </a:pPr>
            <a:r>
              <a:rPr lang="en-US" sz="3200" dirty="0"/>
              <a:t>AI Ethics helps make sure that AI is:</a:t>
            </a:r>
            <a:br>
              <a:rPr lang="en-US" sz="3200" dirty="0"/>
            </a:br>
            <a:r>
              <a:rPr lang="en-US" sz="3200" dirty="0"/>
              <a:t> 1.Fair</a:t>
            </a:r>
            <a:br>
              <a:rPr lang="en-US" sz="3200" dirty="0"/>
            </a:br>
            <a:r>
              <a:rPr lang="en-US" sz="3200" dirty="0"/>
              <a:t> 2Transparent</a:t>
            </a:r>
            <a:br>
              <a:rPr lang="en-US" sz="3200" dirty="0"/>
            </a:br>
            <a:r>
              <a:rPr lang="en-US" sz="3200" dirty="0"/>
              <a:t> 3.Safe</a:t>
            </a:r>
            <a:br>
              <a:rPr lang="en-US" sz="3200" dirty="0"/>
            </a:br>
            <a:r>
              <a:rPr lang="en-US" sz="3200" dirty="0"/>
              <a:t> 4.Respectful of human values</a:t>
            </a:r>
          </a:p>
          <a:p>
            <a:pPr marL="0" indent="0" algn="ctr">
              <a:buNone/>
            </a:pPr>
            <a:endParaRPr lang="en-IN" dirty="0"/>
          </a:p>
        </p:txBody>
      </p:sp>
    </p:spTree>
    <p:extLst>
      <p:ext uri="{BB962C8B-B14F-4D97-AF65-F5344CB8AC3E}">
        <p14:creationId xmlns:p14="http://schemas.microsoft.com/office/powerpoint/2010/main" val="19893049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1BB521-2C12-895D-EF44-BFAB9C14A1F9}"/>
              </a:ext>
            </a:extLst>
          </p:cNvPr>
          <p:cNvSpPr>
            <a:spLocks noGrp="1"/>
          </p:cNvSpPr>
          <p:nvPr>
            <p:ph idx="1"/>
          </p:nvPr>
        </p:nvSpPr>
        <p:spPr>
          <a:xfrm>
            <a:off x="184031" y="149525"/>
            <a:ext cx="11777932" cy="5854459"/>
          </a:xfrm>
        </p:spPr>
        <p:txBody>
          <a:bodyPr/>
          <a:lstStyle/>
          <a:p>
            <a:pPr marL="0" indent="0">
              <a:buNone/>
            </a:pPr>
            <a:endParaRPr lang="en-US" dirty="0"/>
          </a:p>
          <a:p>
            <a:pPr marL="0" indent="0">
              <a:buNone/>
            </a:pPr>
            <a:endParaRPr lang="en-IN" dirty="0"/>
          </a:p>
          <a:p>
            <a:pPr marL="0" indent="0" algn="ctr">
              <a:buNone/>
            </a:pPr>
            <a:r>
              <a:rPr lang="en-IN" sz="3200" dirty="0"/>
              <a:t>Principles of AI Ethics</a:t>
            </a:r>
          </a:p>
          <a:p>
            <a:pPr marL="0" indent="0" algn="ctr">
              <a:buNone/>
            </a:pPr>
            <a:endParaRPr lang="en-IN" sz="3200" dirty="0"/>
          </a:p>
          <a:p>
            <a:pPr marL="0" indent="0">
              <a:buNone/>
            </a:pPr>
            <a:r>
              <a:rPr lang="en-US" sz="3200" b="1" dirty="0"/>
              <a:t>Fairness</a:t>
            </a:r>
            <a:r>
              <a:rPr lang="en-US" sz="3200" dirty="0"/>
              <a:t> – AI should treat everyone equally.</a:t>
            </a:r>
            <a:br>
              <a:rPr lang="en-US" sz="3200" dirty="0"/>
            </a:br>
            <a:r>
              <a:rPr lang="en-US" sz="3200" i="1" dirty="0"/>
              <a:t>Example:</a:t>
            </a:r>
            <a:r>
              <a:rPr lang="en-US" sz="3200" dirty="0"/>
              <a:t> An AI hiring system should not select only men for jobs</a:t>
            </a:r>
          </a:p>
          <a:p>
            <a:pPr marL="0" indent="0">
              <a:buNone/>
            </a:pPr>
            <a:r>
              <a:rPr lang="en-US" sz="3200" b="1" dirty="0"/>
              <a:t>Privacy</a:t>
            </a:r>
            <a:r>
              <a:rPr lang="en-US" sz="3200" dirty="0"/>
              <a:t> – AI should protect personal information.</a:t>
            </a:r>
            <a:br>
              <a:rPr lang="en-US" sz="3200" dirty="0"/>
            </a:br>
            <a:r>
              <a:rPr lang="en-US" sz="3200" i="1" dirty="0"/>
              <a:t>Example:</a:t>
            </a:r>
            <a:r>
              <a:rPr lang="en-US" sz="3200" dirty="0"/>
              <a:t> Chatbots should not share your personal data.</a:t>
            </a:r>
            <a:endParaRPr lang="en-IN" sz="3200" dirty="0"/>
          </a:p>
        </p:txBody>
      </p:sp>
    </p:spTree>
    <p:extLst>
      <p:ext uri="{BB962C8B-B14F-4D97-AF65-F5344CB8AC3E}">
        <p14:creationId xmlns:p14="http://schemas.microsoft.com/office/powerpoint/2010/main" val="31484688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86C861-64B9-25BC-3A99-596921F68A62}"/>
              </a:ext>
            </a:extLst>
          </p:cNvPr>
          <p:cNvSpPr>
            <a:spLocks noGrp="1"/>
          </p:cNvSpPr>
          <p:nvPr>
            <p:ph idx="1"/>
          </p:nvPr>
        </p:nvSpPr>
        <p:spPr>
          <a:xfrm>
            <a:off x="172528" y="166778"/>
            <a:ext cx="11576649" cy="5831456"/>
          </a:xfrm>
        </p:spPr>
        <p:txBody>
          <a:bodyPr>
            <a:normAutofit lnSpcReduction="10000"/>
          </a:bodyPr>
          <a:lstStyle/>
          <a:p>
            <a:pPr marL="0" indent="0">
              <a:buNone/>
            </a:pPr>
            <a:endParaRPr lang="en-US" dirty="0"/>
          </a:p>
          <a:p>
            <a:pPr marL="0" indent="0">
              <a:buNone/>
            </a:pPr>
            <a:endParaRPr lang="en-IN" dirty="0"/>
          </a:p>
          <a:p>
            <a:pPr marL="0" indent="0" algn="ctr">
              <a:buNone/>
            </a:pPr>
            <a:r>
              <a:rPr lang="en-IN" sz="3200" dirty="0"/>
              <a:t>Principles of AI Ethics</a:t>
            </a:r>
          </a:p>
          <a:p>
            <a:pPr marL="0" indent="0">
              <a:buNone/>
            </a:pPr>
            <a:r>
              <a:rPr lang="en-US" sz="3200" b="1" dirty="0"/>
              <a:t>Accountability</a:t>
            </a:r>
            <a:r>
              <a:rPr lang="en-US" sz="3200" dirty="0"/>
              <a:t> – Someone must take responsibility if AI makes a mistake.</a:t>
            </a:r>
            <a:br>
              <a:rPr lang="en-US" sz="3200" dirty="0"/>
            </a:br>
            <a:r>
              <a:rPr lang="en-US" sz="3200" i="1" dirty="0"/>
              <a:t>Example:</a:t>
            </a:r>
            <a:r>
              <a:rPr lang="en-US" sz="3200" dirty="0"/>
              <a:t> A company is responsible if its AI spreads false news.</a:t>
            </a:r>
          </a:p>
          <a:p>
            <a:pPr marL="0" indent="0">
              <a:buNone/>
            </a:pPr>
            <a:r>
              <a:rPr lang="en-US" sz="3200" b="1" dirty="0"/>
              <a:t>Human-Centered</a:t>
            </a:r>
            <a:r>
              <a:rPr lang="en-US" sz="3200" dirty="0"/>
              <a:t> – AI should help people, not replace or harm them.</a:t>
            </a:r>
            <a:br>
              <a:rPr lang="en-US" sz="3200" dirty="0"/>
            </a:br>
            <a:r>
              <a:rPr lang="en-US" sz="3200" i="1" dirty="0"/>
              <a:t>Example:</a:t>
            </a:r>
            <a:r>
              <a:rPr lang="en-US" sz="3200" dirty="0"/>
              <a:t> AI in healthcare should support doctors, not make unsafe decisions.</a:t>
            </a:r>
            <a:endParaRPr lang="en-IN" sz="3200" dirty="0"/>
          </a:p>
        </p:txBody>
      </p:sp>
    </p:spTree>
    <p:extLst>
      <p:ext uri="{BB962C8B-B14F-4D97-AF65-F5344CB8AC3E}">
        <p14:creationId xmlns:p14="http://schemas.microsoft.com/office/powerpoint/2010/main" val="5044345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C90422-C2C4-E257-F6CB-7DD2A579E7C2}"/>
              </a:ext>
            </a:extLst>
          </p:cNvPr>
          <p:cNvSpPr>
            <a:spLocks noGrp="1"/>
          </p:cNvSpPr>
          <p:nvPr>
            <p:ph idx="1"/>
          </p:nvPr>
        </p:nvSpPr>
        <p:spPr>
          <a:xfrm>
            <a:off x="189781" y="247292"/>
            <a:ext cx="11835442" cy="5762444"/>
          </a:xfrm>
        </p:spPr>
        <p:txBody>
          <a:bodyPr>
            <a:normAutofit/>
          </a:bodyPr>
          <a:lstStyle/>
          <a:p>
            <a:pPr marL="0" indent="0">
              <a:buNone/>
            </a:pPr>
            <a:endParaRPr lang="en-US" dirty="0"/>
          </a:p>
          <a:p>
            <a:pPr marL="0" indent="0">
              <a:buNone/>
            </a:pPr>
            <a:endParaRPr lang="en-IN" dirty="0"/>
          </a:p>
          <a:p>
            <a:pPr marL="0" indent="0" algn="ctr">
              <a:buNone/>
            </a:pPr>
            <a:r>
              <a:rPr lang="en-IN" sz="3200" dirty="0"/>
              <a:t>What is Robustness</a:t>
            </a:r>
          </a:p>
          <a:p>
            <a:pPr marL="0" indent="0">
              <a:buNone/>
            </a:pPr>
            <a:r>
              <a:rPr lang="en-US" sz="3200" dirty="0"/>
              <a:t>Robustness means the ability of an AI system to stay strong and give correct results, even if something goes wrong or if it faces new or tricky data</a:t>
            </a:r>
          </a:p>
          <a:p>
            <a:pPr marL="0" indent="0">
              <a:buNone/>
            </a:pPr>
            <a:r>
              <a:rPr lang="en-US" sz="3200" dirty="0"/>
              <a:t>Imagine an AI model trained to recognize cats in photos.</a:t>
            </a:r>
            <a:br>
              <a:rPr lang="en-US" sz="3200" dirty="0"/>
            </a:br>
            <a:r>
              <a:rPr lang="en-US" sz="3200" dirty="0"/>
              <a:t>If it can still correctly identify a cat even when the picture is blurry or dark — that means the model is </a:t>
            </a:r>
            <a:r>
              <a:rPr lang="en-US" sz="3200" b="1" dirty="0"/>
              <a:t>robust</a:t>
            </a:r>
            <a:r>
              <a:rPr lang="en-US" sz="3200" dirty="0"/>
              <a:t>.</a:t>
            </a:r>
            <a:endParaRPr lang="en-IN" sz="3200" dirty="0"/>
          </a:p>
          <a:p>
            <a:pPr marL="0" indent="0">
              <a:buNone/>
            </a:pPr>
            <a:endParaRPr lang="en-IN" sz="3200" dirty="0"/>
          </a:p>
          <a:p>
            <a:pPr marL="0" indent="0">
              <a:buNone/>
            </a:pPr>
            <a:endParaRPr lang="en-IN" dirty="0"/>
          </a:p>
        </p:txBody>
      </p:sp>
    </p:spTree>
    <p:extLst>
      <p:ext uri="{BB962C8B-B14F-4D97-AF65-F5344CB8AC3E}">
        <p14:creationId xmlns:p14="http://schemas.microsoft.com/office/powerpoint/2010/main" val="23328572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2ECF8D-1D3E-6AA9-4919-CC9EF3697D1C}"/>
              </a:ext>
            </a:extLst>
          </p:cNvPr>
          <p:cNvSpPr>
            <a:spLocks noGrp="1"/>
          </p:cNvSpPr>
          <p:nvPr>
            <p:ph idx="1"/>
          </p:nvPr>
        </p:nvSpPr>
        <p:spPr>
          <a:xfrm>
            <a:off x="195533" y="212786"/>
            <a:ext cx="11743426" cy="5831456"/>
          </a:xfrm>
        </p:spPr>
        <p:txBody>
          <a:bodyPr/>
          <a:lstStyle/>
          <a:p>
            <a:pPr marL="0" indent="0">
              <a:buNone/>
            </a:pPr>
            <a:endParaRPr lang="en-US" dirty="0"/>
          </a:p>
          <a:p>
            <a:pPr marL="0" indent="0">
              <a:buNone/>
            </a:pPr>
            <a:endParaRPr lang="en-IN" dirty="0"/>
          </a:p>
          <a:p>
            <a:pPr marL="0" indent="0" algn="ctr">
              <a:buNone/>
            </a:pPr>
            <a:r>
              <a:rPr lang="en-IN" sz="3200" dirty="0"/>
              <a:t>Why Robustness Matters</a:t>
            </a:r>
          </a:p>
          <a:p>
            <a:pPr marL="0" indent="0">
              <a:buNone/>
            </a:pPr>
            <a:r>
              <a:rPr lang="en-US" sz="3200" dirty="0"/>
              <a:t>-Ensures reliable </a:t>
            </a:r>
            <a:r>
              <a:rPr lang="en-US" sz="3200" b="1" dirty="0"/>
              <a:t>results in the real world</a:t>
            </a:r>
          </a:p>
          <a:p>
            <a:pPr marL="0" indent="0">
              <a:buNone/>
            </a:pPr>
            <a:r>
              <a:rPr lang="en-US" sz="3200" dirty="0"/>
              <a:t>-Makes </a:t>
            </a:r>
            <a:r>
              <a:rPr lang="en-US" sz="3200" b="1" dirty="0"/>
              <a:t>AI systems trustworthy and safe</a:t>
            </a:r>
          </a:p>
          <a:p>
            <a:pPr marL="0" indent="0">
              <a:buNone/>
            </a:pPr>
            <a:r>
              <a:rPr lang="en-US" sz="3200" dirty="0"/>
              <a:t>Ex. We want AI systems to be strong like a person who doesn’t get confused easily — that’s robustness</a:t>
            </a:r>
            <a:endParaRPr lang="en-IN" sz="3200" dirty="0"/>
          </a:p>
        </p:txBody>
      </p:sp>
    </p:spTree>
    <p:extLst>
      <p:ext uri="{BB962C8B-B14F-4D97-AF65-F5344CB8AC3E}">
        <p14:creationId xmlns:p14="http://schemas.microsoft.com/office/powerpoint/2010/main" val="23238563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425BCB-0B5C-2964-E714-CBDB3136A0E4}"/>
              </a:ext>
            </a:extLst>
          </p:cNvPr>
          <p:cNvSpPr>
            <a:spLocks noGrp="1"/>
          </p:cNvSpPr>
          <p:nvPr>
            <p:ph idx="1"/>
          </p:nvPr>
        </p:nvSpPr>
        <p:spPr>
          <a:xfrm>
            <a:off x="224287" y="184030"/>
            <a:ext cx="11766430" cy="5808453"/>
          </a:xfrm>
        </p:spPr>
        <p:txBody>
          <a:bodyPr/>
          <a:lstStyle/>
          <a:p>
            <a:pPr marL="0" indent="0">
              <a:buNone/>
            </a:pPr>
            <a:endParaRPr lang="en-US" dirty="0"/>
          </a:p>
          <a:p>
            <a:pPr marL="0" indent="0">
              <a:buNone/>
            </a:pPr>
            <a:endParaRPr lang="en-IN" dirty="0"/>
          </a:p>
          <a:p>
            <a:pPr marL="0" indent="0" algn="ctr">
              <a:buNone/>
            </a:pPr>
            <a:r>
              <a:rPr lang="en-IN" sz="3200" dirty="0"/>
              <a:t>About this module</a:t>
            </a:r>
          </a:p>
          <a:p>
            <a:pPr marL="0" indent="0">
              <a:buNone/>
            </a:pPr>
            <a:endParaRPr lang="en-IN" sz="3200" dirty="0"/>
          </a:p>
          <a:p>
            <a:pPr marL="0" indent="0">
              <a:buNone/>
            </a:pPr>
            <a:r>
              <a:rPr lang="en-US" sz="3200" dirty="0"/>
              <a:t>What robustness means in AI</a:t>
            </a:r>
          </a:p>
          <a:p>
            <a:pPr marL="0" indent="0">
              <a:buNone/>
            </a:pPr>
            <a:r>
              <a:rPr lang="en-US" sz="3200" dirty="0"/>
              <a:t>Why it’s important for safe and fair AI systems</a:t>
            </a:r>
          </a:p>
          <a:p>
            <a:pPr marL="0" indent="0">
              <a:buNone/>
            </a:pPr>
            <a:r>
              <a:rPr lang="en-US" sz="3200" dirty="0"/>
              <a:t>How to identify and fix weak points in AI models</a:t>
            </a:r>
          </a:p>
          <a:p>
            <a:pPr marL="0" indent="0">
              <a:buNone/>
            </a:pPr>
            <a:endParaRPr lang="en-US" dirty="0"/>
          </a:p>
          <a:p>
            <a:pPr marL="0" indent="0" algn="ctr">
              <a:buNone/>
            </a:pPr>
            <a:endParaRPr lang="en-IN" dirty="0"/>
          </a:p>
        </p:txBody>
      </p:sp>
    </p:spTree>
    <p:extLst>
      <p:ext uri="{BB962C8B-B14F-4D97-AF65-F5344CB8AC3E}">
        <p14:creationId xmlns:p14="http://schemas.microsoft.com/office/powerpoint/2010/main" val="29126326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813BCE-BEA1-426D-FACE-F34470D47E0C}"/>
              </a:ext>
            </a:extLst>
          </p:cNvPr>
          <p:cNvSpPr>
            <a:spLocks noGrp="1"/>
          </p:cNvSpPr>
          <p:nvPr>
            <p:ph idx="1"/>
          </p:nvPr>
        </p:nvSpPr>
        <p:spPr>
          <a:xfrm>
            <a:off x="218537" y="241540"/>
            <a:ext cx="11622656" cy="5727939"/>
          </a:xfrm>
        </p:spPr>
        <p:txBody>
          <a:bodyPr/>
          <a:lstStyle/>
          <a:p>
            <a:pPr marL="0" indent="0">
              <a:buNone/>
            </a:pPr>
            <a:endParaRPr lang="en-US" dirty="0"/>
          </a:p>
          <a:p>
            <a:pPr marL="0" indent="0">
              <a:buNone/>
            </a:pPr>
            <a:endParaRPr lang="en-IN" dirty="0"/>
          </a:p>
          <a:p>
            <a:pPr marL="0" indent="0" algn="ctr">
              <a:buNone/>
            </a:pPr>
            <a:r>
              <a:rPr lang="en-IN" sz="3200" dirty="0"/>
              <a:t>Identify the issue</a:t>
            </a:r>
          </a:p>
          <a:p>
            <a:pPr marL="0" indent="0">
              <a:buNone/>
            </a:pPr>
            <a:r>
              <a:rPr lang="en-IN" sz="3200" dirty="0"/>
              <a:t>   </a:t>
            </a:r>
            <a:r>
              <a:rPr lang="en-US" sz="3200" dirty="0"/>
              <a:t>Where could an AI system fail?</a:t>
            </a:r>
          </a:p>
          <a:p>
            <a:r>
              <a:rPr lang="en-US" sz="3200" b="1" dirty="0"/>
              <a:t>Wrong predictions </a:t>
            </a:r>
            <a:r>
              <a:rPr lang="en-US" sz="3200" dirty="0"/>
              <a:t>on new data</a:t>
            </a:r>
          </a:p>
          <a:p>
            <a:r>
              <a:rPr lang="en-US" sz="3200" b="1" dirty="0"/>
              <a:t>Misunderstanding</a:t>
            </a:r>
            <a:r>
              <a:rPr lang="en-US" sz="3200" dirty="0"/>
              <a:t> due to noise or spelling mistakes</a:t>
            </a:r>
          </a:p>
          <a:p>
            <a:r>
              <a:rPr lang="en-US" sz="3200" dirty="0"/>
              <a:t>Overfitting to training data</a:t>
            </a:r>
          </a:p>
          <a:p>
            <a:pPr marL="0" indent="0" algn="ctr">
              <a:buNone/>
            </a:pPr>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29310065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74A131-C5CC-5B69-7E22-41985BEB2B43}"/>
              </a:ext>
            </a:extLst>
          </p:cNvPr>
          <p:cNvSpPr>
            <a:spLocks noGrp="1"/>
          </p:cNvSpPr>
          <p:nvPr>
            <p:ph idx="1"/>
          </p:nvPr>
        </p:nvSpPr>
        <p:spPr>
          <a:xfrm>
            <a:off x="178279" y="385313"/>
            <a:ext cx="11478884" cy="5520906"/>
          </a:xfrm>
        </p:spPr>
        <p:txBody>
          <a:bodyPr/>
          <a:lstStyle/>
          <a:p>
            <a:pPr marL="0" indent="0">
              <a:buNone/>
            </a:pPr>
            <a:endParaRPr lang="en-IN" dirty="0"/>
          </a:p>
          <a:p>
            <a:pPr marL="0" indent="0" algn="ctr">
              <a:buNone/>
            </a:pPr>
            <a:endParaRPr lang="en-IN" dirty="0"/>
          </a:p>
          <a:p>
            <a:pPr marL="0" indent="0" algn="ctr">
              <a:buNone/>
            </a:pPr>
            <a:r>
              <a:rPr lang="en-IN" sz="3200" dirty="0"/>
              <a:t>What is Explainability</a:t>
            </a:r>
          </a:p>
          <a:p>
            <a:pPr marL="0" indent="0">
              <a:buNone/>
            </a:pPr>
            <a:r>
              <a:rPr lang="en-US" sz="3200" dirty="0"/>
              <a:t>Explainability means </a:t>
            </a:r>
            <a:r>
              <a:rPr lang="en-US" sz="3200" b="1" dirty="0"/>
              <a:t>understanding how an AI model reaches its result.</a:t>
            </a:r>
            <a:endParaRPr lang="en-US" sz="3200" dirty="0"/>
          </a:p>
          <a:p>
            <a:pPr marL="0" indent="0">
              <a:buNone/>
            </a:pPr>
            <a:r>
              <a:rPr lang="en-US" sz="3200" dirty="0"/>
              <a:t>Explainability means we can understand what’s happening inside the AI — it’s not a mystery box</a:t>
            </a:r>
          </a:p>
          <a:p>
            <a:pPr marL="0" indent="0" algn="ctr">
              <a:buNone/>
            </a:pPr>
            <a:endParaRPr lang="en-IN" sz="3200" dirty="0"/>
          </a:p>
          <a:p>
            <a:pPr marL="0" indent="0" algn="ctr">
              <a:buNone/>
            </a:pPr>
            <a:endParaRPr lang="en-IN" sz="3200" dirty="0"/>
          </a:p>
          <a:p>
            <a:pPr marL="0" indent="0" algn="ctr">
              <a:buNone/>
            </a:pPr>
            <a:endParaRPr lang="en-IN" dirty="0"/>
          </a:p>
        </p:txBody>
      </p:sp>
    </p:spTree>
    <p:extLst>
      <p:ext uri="{BB962C8B-B14F-4D97-AF65-F5344CB8AC3E}">
        <p14:creationId xmlns:p14="http://schemas.microsoft.com/office/powerpoint/2010/main" val="13807875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6046BE-5B72-9851-7B90-B4D35386EC96}"/>
              </a:ext>
            </a:extLst>
          </p:cNvPr>
          <p:cNvSpPr>
            <a:spLocks noGrp="1"/>
          </p:cNvSpPr>
          <p:nvPr>
            <p:ph idx="1"/>
          </p:nvPr>
        </p:nvSpPr>
        <p:spPr>
          <a:xfrm>
            <a:off x="258792" y="235790"/>
            <a:ext cx="11588151" cy="5773946"/>
          </a:xfrm>
        </p:spPr>
        <p:txBody>
          <a:bodyPr/>
          <a:lstStyle/>
          <a:p>
            <a:pPr marL="0" indent="0">
              <a:buNone/>
            </a:pPr>
            <a:endParaRPr lang="en-IN" dirty="0"/>
          </a:p>
          <a:p>
            <a:pPr marL="0" indent="0">
              <a:buNone/>
            </a:pPr>
            <a:endParaRPr lang="en-IN" dirty="0"/>
          </a:p>
          <a:p>
            <a:pPr marL="0" indent="0" algn="ctr">
              <a:buNone/>
            </a:pPr>
            <a:r>
              <a:rPr lang="en-IN" sz="3200" dirty="0"/>
              <a:t>What is Transparency</a:t>
            </a:r>
          </a:p>
          <a:p>
            <a:pPr marL="0" indent="0">
              <a:buNone/>
            </a:pPr>
            <a:r>
              <a:rPr lang="en-US" sz="3200" dirty="0"/>
              <a:t>Transparency means being </a:t>
            </a:r>
            <a:r>
              <a:rPr lang="en-US" sz="3200" b="1" dirty="0"/>
              <a:t>open and clear</a:t>
            </a:r>
            <a:r>
              <a:rPr lang="en-US" sz="3200" dirty="0"/>
              <a:t> about </a:t>
            </a:r>
            <a:r>
              <a:rPr lang="en-US" sz="3200" b="1" dirty="0"/>
              <a:t>how an AI system </a:t>
            </a:r>
            <a:r>
              <a:rPr lang="en-US" sz="3200" dirty="0"/>
              <a:t>works — what data it uses, who built it, and how it makes decisions.</a:t>
            </a:r>
          </a:p>
          <a:p>
            <a:pPr marL="0" indent="0">
              <a:buNone/>
            </a:pPr>
            <a:r>
              <a:rPr lang="en-US" sz="3200" dirty="0"/>
              <a:t>Transparency means no secrets in AI everyone should know how it works</a:t>
            </a:r>
          </a:p>
          <a:p>
            <a:pPr marL="0" indent="0" algn="ctr">
              <a:buNone/>
            </a:pPr>
            <a:endParaRPr lang="en-IN" dirty="0"/>
          </a:p>
        </p:txBody>
      </p:sp>
    </p:spTree>
    <p:extLst>
      <p:ext uri="{BB962C8B-B14F-4D97-AF65-F5344CB8AC3E}">
        <p14:creationId xmlns:p14="http://schemas.microsoft.com/office/powerpoint/2010/main" val="601230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176226-15ED-DB72-CB51-B787EDB35495}"/>
              </a:ext>
            </a:extLst>
          </p:cNvPr>
          <p:cNvSpPr>
            <a:spLocks noGrp="1"/>
          </p:cNvSpPr>
          <p:nvPr>
            <p:ph idx="1"/>
          </p:nvPr>
        </p:nvSpPr>
        <p:spPr>
          <a:xfrm>
            <a:off x="241540" y="224287"/>
            <a:ext cx="11628407" cy="5768195"/>
          </a:xfrm>
        </p:spPr>
        <p:txBody>
          <a:bodyPr>
            <a:normAutofit lnSpcReduction="10000"/>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US" sz="3200" dirty="0"/>
              <a:t>A transparent AI system clearly tells:</a:t>
            </a:r>
          </a:p>
          <a:p>
            <a:pPr marL="0" indent="0">
              <a:buNone/>
            </a:pPr>
            <a:r>
              <a:rPr lang="en-US" sz="3200" dirty="0"/>
              <a:t>What data it used</a:t>
            </a:r>
          </a:p>
          <a:p>
            <a:pPr marL="0" indent="0">
              <a:buNone/>
            </a:pPr>
            <a:r>
              <a:rPr lang="en-US" sz="3200" dirty="0"/>
              <a:t>Who trained it</a:t>
            </a:r>
          </a:p>
          <a:p>
            <a:pPr marL="0" indent="0">
              <a:buNone/>
            </a:pPr>
            <a:r>
              <a:rPr lang="en-US" sz="3200" dirty="0"/>
              <a:t>Why it gave a certain result</a:t>
            </a:r>
          </a:p>
          <a:p>
            <a:pPr marL="0" indent="0">
              <a:buNone/>
            </a:pPr>
            <a:r>
              <a:rPr lang="en-US" sz="3200" dirty="0"/>
              <a:t>If an AI recommends a product, it should say </a:t>
            </a:r>
            <a:r>
              <a:rPr lang="en-US" sz="3200" i="1" dirty="0"/>
              <a:t>why</a:t>
            </a:r>
            <a:r>
              <a:rPr lang="en-US" sz="3200" dirty="0"/>
              <a:t> — maybe because of your past purchases</a:t>
            </a:r>
            <a:r>
              <a:rPr lang="en-US" dirty="0"/>
              <a:t>.”</a:t>
            </a:r>
          </a:p>
          <a:p>
            <a:pPr marL="0" indent="0">
              <a:buNone/>
            </a:pPr>
            <a:endParaRPr lang="en-IN" dirty="0"/>
          </a:p>
        </p:txBody>
      </p:sp>
    </p:spTree>
    <p:extLst>
      <p:ext uri="{BB962C8B-B14F-4D97-AF65-F5344CB8AC3E}">
        <p14:creationId xmlns:p14="http://schemas.microsoft.com/office/powerpoint/2010/main" val="32992005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B73674-3C15-0BF7-99B3-77EA2204E803}"/>
              </a:ext>
            </a:extLst>
          </p:cNvPr>
          <p:cNvSpPr>
            <a:spLocks noGrp="1"/>
          </p:cNvSpPr>
          <p:nvPr>
            <p:ph idx="1"/>
          </p:nvPr>
        </p:nvSpPr>
        <p:spPr>
          <a:xfrm>
            <a:off x="264543" y="207034"/>
            <a:ext cx="11685917" cy="5819955"/>
          </a:xfrm>
        </p:spPr>
        <p:txBody>
          <a:bodyPr/>
          <a:lstStyle/>
          <a:p>
            <a:pPr marL="0" indent="0">
              <a:buNone/>
            </a:pPr>
            <a:endParaRPr lang="en-US" dirty="0"/>
          </a:p>
          <a:p>
            <a:pPr marL="0" indent="0">
              <a:buNone/>
            </a:pPr>
            <a:endParaRPr lang="en-IN" dirty="0"/>
          </a:p>
          <a:p>
            <a:pPr marL="0" indent="0" algn="ctr">
              <a:buNone/>
            </a:pPr>
            <a:r>
              <a:rPr lang="en-IN" sz="3200" b="1" dirty="0"/>
              <a:t>Cyber Security</a:t>
            </a:r>
            <a:r>
              <a:rPr lang="en-IN" sz="3200" dirty="0"/>
              <a:t> </a:t>
            </a:r>
          </a:p>
          <a:p>
            <a:pPr marL="0" indent="0" algn="ctr">
              <a:buNone/>
            </a:pPr>
            <a:endParaRPr lang="en-IN" sz="3200" dirty="0"/>
          </a:p>
          <a:p>
            <a:pPr marL="0" indent="0">
              <a:buNone/>
            </a:pPr>
            <a:r>
              <a:rPr lang="en-US" sz="3200" b="1" dirty="0"/>
              <a:t>    protecting computers, mobile phones, networks, and data</a:t>
            </a:r>
            <a:r>
              <a:rPr lang="en-US" sz="3200" dirty="0"/>
              <a:t> </a:t>
            </a:r>
          </a:p>
          <a:p>
            <a:pPr marL="0" indent="0">
              <a:buNone/>
            </a:pPr>
            <a:r>
              <a:rPr lang="en-US" sz="3200" dirty="0"/>
              <a:t>from unauthorized access.</a:t>
            </a:r>
            <a:endParaRPr lang="en-IN" sz="3200" dirty="0"/>
          </a:p>
        </p:txBody>
      </p:sp>
    </p:spTree>
    <p:extLst>
      <p:ext uri="{BB962C8B-B14F-4D97-AF65-F5344CB8AC3E}">
        <p14:creationId xmlns:p14="http://schemas.microsoft.com/office/powerpoint/2010/main" val="11368960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287249-83D4-F3CD-F16B-CA072837DC2C}"/>
              </a:ext>
            </a:extLst>
          </p:cNvPr>
          <p:cNvSpPr>
            <a:spLocks noGrp="1"/>
          </p:cNvSpPr>
          <p:nvPr>
            <p:ph idx="1"/>
          </p:nvPr>
        </p:nvSpPr>
        <p:spPr>
          <a:xfrm>
            <a:off x="210065" y="135924"/>
            <a:ext cx="11825416" cy="5869460"/>
          </a:xfrm>
        </p:spPr>
        <p:txBody>
          <a:bodyPr/>
          <a:lstStyle/>
          <a:p>
            <a:pPr marL="0" indent="0">
              <a:buNone/>
            </a:pPr>
            <a:endParaRPr lang="en-US" dirty="0"/>
          </a:p>
          <a:p>
            <a:pPr marL="0" indent="0">
              <a:buNone/>
            </a:pPr>
            <a:endParaRPr lang="en-IN" dirty="0"/>
          </a:p>
          <a:p>
            <a:pPr marL="0" indent="0">
              <a:buNone/>
            </a:pPr>
            <a:r>
              <a:rPr lang="en-US" sz="3200" dirty="0"/>
              <a:t>                                   Why is Cyber Security Important?</a:t>
            </a:r>
          </a:p>
          <a:p>
            <a:pPr marL="0" indent="0">
              <a:buNone/>
            </a:pPr>
            <a:endParaRPr lang="en-US" sz="3200" dirty="0"/>
          </a:p>
          <a:p>
            <a:pPr marL="0" indent="0">
              <a:buNone/>
            </a:pPr>
            <a:r>
              <a:rPr lang="en-IN" sz="3200" dirty="0"/>
              <a:t>1.</a:t>
            </a:r>
            <a:r>
              <a:rPr lang="en-IN" sz="3200" b="1" dirty="0"/>
              <a:t>Protects personal data</a:t>
            </a:r>
          </a:p>
          <a:p>
            <a:pPr marL="0" indent="0">
              <a:buNone/>
            </a:pPr>
            <a:r>
              <a:rPr lang="en-IN" sz="3200" dirty="0"/>
              <a:t>--Aadhaar, passwords, bank details</a:t>
            </a:r>
          </a:p>
          <a:p>
            <a:pPr marL="0" indent="0">
              <a:buNone/>
            </a:pPr>
            <a:r>
              <a:rPr lang="en-IN" sz="3200" dirty="0"/>
              <a:t>2.</a:t>
            </a:r>
            <a:r>
              <a:rPr lang="en-IN" sz="3200" b="1" dirty="0"/>
              <a:t>Prevents financial loss</a:t>
            </a:r>
          </a:p>
          <a:p>
            <a:pPr marL="0" indent="0">
              <a:buNone/>
            </a:pPr>
            <a:r>
              <a:rPr lang="en-IN" sz="3200" dirty="0"/>
              <a:t>--Online fraud. </a:t>
            </a:r>
            <a:r>
              <a:rPr lang="en-IN" sz="3200" dirty="0" err="1"/>
              <a:t>otp</a:t>
            </a:r>
            <a:r>
              <a:rPr lang="en-IN" sz="3200" dirty="0"/>
              <a:t> scan</a:t>
            </a:r>
          </a:p>
          <a:p>
            <a:pPr marL="0" indent="0">
              <a:buNone/>
            </a:pPr>
            <a:endParaRPr lang="en-IN" dirty="0"/>
          </a:p>
        </p:txBody>
      </p:sp>
    </p:spTree>
    <p:extLst>
      <p:ext uri="{BB962C8B-B14F-4D97-AF65-F5344CB8AC3E}">
        <p14:creationId xmlns:p14="http://schemas.microsoft.com/office/powerpoint/2010/main" val="5922255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FBD80D-405D-AB15-94D5-CAC4C296A192}"/>
              </a:ext>
            </a:extLst>
          </p:cNvPr>
          <p:cNvSpPr>
            <a:spLocks noGrp="1"/>
          </p:cNvSpPr>
          <p:nvPr>
            <p:ph idx="1"/>
          </p:nvPr>
        </p:nvSpPr>
        <p:spPr>
          <a:xfrm>
            <a:off x="197708" y="333632"/>
            <a:ext cx="11516497" cy="5597611"/>
          </a:xfrm>
        </p:spPr>
        <p:txBody>
          <a:bodyPr/>
          <a:lstStyle/>
          <a:p>
            <a:pPr marL="0" indent="0">
              <a:buNone/>
            </a:pPr>
            <a:endParaRPr lang="en-US" dirty="0"/>
          </a:p>
          <a:p>
            <a:pPr marL="0" indent="0">
              <a:buNone/>
            </a:pPr>
            <a:endParaRPr lang="en-IN" dirty="0"/>
          </a:p>
          <a:p>
            <a:pPr marL="0" indent="0">
              <a:buNone/>
            </a:pPr>
            <a:endParaRPr lang="en-IN" dirty="0"/>
          </a:p>
          <a:p>
            <a:pPr marL="0" indent="0">
              <a:buNone/>
            </a:pPr>
            <a:endParaRPr lang="en-IN" dirty="0"/>
          </a:p>
          <a:p>
            <a:pPr marL="0" indent="0">
              <a:buNone/>
            </a:pPr>
            <a:r>
              <a:rPr lang="en-IN" sz="3200" b="1" dirty="0"/>
              <a:t>3.Protects organizations</a:t>
            </a:r>
            <a:br>
              <a:rPr lang="en-IN" sz="3200" dirty="0"/>
            </a:br>
            <a:r>
              <a:rPr lang="en-IN" sz="3200" dirty="0"/>
              <a:t>– Company data, customer information</a:t>
            </a:r>
          </a:p>
          <a:p>
            <a:pPr marL="0" indent="0">
              <a:buNone/>
            </a:pPr>
            <a:r>
              <a:rPr lang="en-IN" sz="3200" dirty="0"/>
              <a:t>4.</a:t>
            </a:r>
            <a:r>
              <a:rPr lang="en-IN" sz="3200" b="1" dirty="0"/>
              <a:t>Maintains trust and safety</a:t>
            </a:r>
          </a:p>
          <a:p>
            <a:pPr marL="0" indent="0">
              <a:buNone/>
            </a:pPr>
            <a:r>
              <a:rPr lang="en-IN" sz="3200" dirty="0"/>
              <a:t>--Safe online transactions and communication</a:t>
            </a:r>
          </a:p>
        </p:txBody>
      </p:sp>
    </p:spTree>
    <p:extLst>
      <p:ext uri="{BB962C8B-B14F-4D97-AF65-F5344CB8AC3E}">
        <p14:creationId xmlns:p14="http://schemas.microsoft.com/office/powerpoint/2010/main" val="24451999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3ECEF6-7843-A193-EC78-3A966A3FE2D6}"/>
              </a:ext>
            </a:extLst>
          </p:cNvPr>
          <p:cNvSpPr>
            <a:spLocks noGrp="1"/>
          </p:cNvSpPr>
          <p:nvPr>
            <p:ph idx="1"/>
          </p:nvPr>
        </p:nvSpPr>
        <p:spPr>
          <a:xfrm>
            <a:off x="172995" y="197708"/>
            <a:ext cx="11837773" cy="5733535"/>
          </a:xfrm>
        </p:spPr>
        <p:txBody>
          <a:bodyPr/>
          <a:lstStyle/>
          <a:p>
            <a:pPr marL="0" indent="0">
              <a:buNone/>
            </a:pPr>
            <a:endParaRPr lang="en-US" dirty="0"/>
          </a:p>
          <a:p>
            <a:pPr marL="0" indent="0">
              <a:buNone/>
            </a:pPr>
            <a:endParaRPr lang="en-IN" dirty="0"/>
          </a:p>
          <a:p>
            <a:pPr marL="0" indent="0">
              <a:buNone/>
            </a:pPr>
            <a:endParaRPr lang="en-IN" dirty="0"/>
          </a:p>
          <a:p>
            <a:pPr marL="0" indent="0">
              <a:buNone/>
            </a:pPr>
            <a:endParaRPr lang="en-IN" dirty="0"/>
          </a:p>
          <a:p>
            <a:pPr marL="0" indent="0">
              <a:buNone/>
            </a:pPr>
            <a:r>
              <a:rPr lang="en-IN" dirty="0"/>
              <a:t>1.</a:t>
            </a:r>
            <a:r>
              <a:rPr lang="en-IN" sz="3200" dirty="0"/>
              <a:t>Network Security</a:t>
            </a:r>
          </a:p>
          <a:p>
            <a:pPr marL="0" indent="0">
              <a:buNone/>
            </a:pPr>
            <a:r>
              <a:rPr lang="en-US" sz="3200" dirty="0"/>
              <a:t>Network security protects computer networks and internet</a:t>
            </a:r>
          </a:p>
          <a:p>
            <a:pPr marL="0" indent="0">
              <a:buNone/>
            </a:pPr>
            <a:r>
              <a:rPr lang="en-US" sz="3200" dirty="0"/>
              <a:t> connections from unauthorized access and cyber attacks</a:t>
            </a:r>
          </a:p>
          <a:p>
            <a:pPr marL="0" indent="0">
              <a:buNone/>
            </a:pPr>
            <a:r>
              <a:rPr lang="en-US" sz="3200" b="1" dirty="0"/>
              <a:t>Example:</a:t>
            </a:r>
            <a:r>
              <a:rPr lang="en-US" sz="3200" dirty="0"/>
              <a:t> A firewall blocking hackers from accessing an office Wi-Fi network.</a:t>
            </a:r>
            <a:endParaRPr lang="en-IN" sz="3200" dirty="0"/>
          </a:p>
          <a:p>
            <a:pPr marL="0" indent="0">
              <a:buNone/>
            </a:pPr>
            <a:endParaRPr lang="en-IN" dirty="0"/>
          </a:p>
        </p:txBody>
      </p:sp>
    </p:spTree>
    <p:extLst>
      <p:ext uri="{BB962C8B-B14F-4D97-AF65-F5344CB8AC3E}">
        <p14:creationId xmlns:p14="http://schemas.microsoft.com/office/powerpoint/2010/main" val="26281040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764783-26AE-C7D4-8E08-69A7085D27C6}"/>
              </a:ext>
            </a:extLst>
          </p:cNvPr>
          <p:cNvSpPr>
            <a:spLocks noGrp="1"/>
          </p:cNvSpPr>
          <p:nvPr>
            <p:ph idx="1"/>
          </p:nvPr>
        </p:nvSpPr>
        <p:spPr>
          <a:xfrm>
            <a:off x="185351" y="284206"/>
            <a:ext cx="11640065" cy="5758248"/>
          </a:xfrm>
        </p:spPr>
        <p:txBody>
          <a:bodyPr>
            <a:normAutofit/>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IN" dirty="0"/>
              <a:t>2️⃣ </a:t>
            </a:r>
            <a:r>
              <a:rPr lang="en-IN" sz="3200" dirty="0"/>
              <a:t>Application Security</a:t>
            </a:r>
            <a:endParaRPr lang="en-US" sz="3200" dirty="0"/>
          </a:p>
          <a:p>
            <a:pPr marL="0" indent="0">
              <a:buNone/>
            </a:pPr>
            <a:r>
              <a:rPr lang="en-US" sz="3200" dirty="0"/>
              <a:t>Application security protects software and mobile applications from vulnerabilities and cyber threats.</a:t>
            </a:r>
          </a:p>
          <a:p>
            <a:pPr marL="0" indent="0">
              <a:buNone/>
            </a:pPr>
            <a:r>
              <a:rPr lang="en-US" sz="3200" b="1" dirty="0"/>
              <a:t>Example:</a:t>
            </a:r>
            <a:r>
              <a:rPr lang="en-US" sz="3200" dirty="0"/>
              <a:t> Secure login and regular updates in a banking mobile app.</a:t>
            </a:r>
            <a:br>
              <a:rPr lang="en-US" sz="3200" dirty="0"/>
            </a:br>
            <a:endParaRPr lang="en-IN" sz="3200" dirty="0"/>
          </a:p>
        </p:txBody>
      </p:sp>
    </p:spTree>
    <p:extLst>
      <p:ext uri="{BB962C8B-B14F-4D97-AF65-F5344CB8AC3E}">
        <p14:creationId xmlns:p14="http://schemas.microsoft.com/office/powerpoint/2010/main" val="34662222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E80E46-A571-BDE3-7C07-F6D1FE943E4A}"/>
              </a:ext>
            </a:extLst>
          </p:cNvPr>
          <p:cNvSpPr>
            <a:spLocks noGrp="1"/>
          </p:cNvSpPr>
          <p:nvPr>
            <p:ph idx="1"/>
          </p:nvPr>
        </p:nvSpPr>
        <p:spPr>
          <a:xfrm>
            <a:off x="259493" y="222422"/>
            <a:ext cx="11652422" cy="5671751"/>
          </a:xfrm>
        </p:spPr>
        <p:txBody>
          <a:bodyPr/>
          <a:lstStyle/>
          <a:p>
            <a:pPr marL="0" indent="0">
              <a:buNone/>
            </a:pPr>
            <a:endParaRPr lang="en-US" dirty="0"/>
          </a:p>
          <a:p>
            <a:pPr marL="0" indent="0">
              <a:buNone/>
            </a:pPr>
            <a:endParaRPr lang="en-IN" dirty="0"/>
          </a:p>
          <a:p>
            <a:pPr marL="0" indent="0">
              <a:buNone/>
            </a:pPr>
            <a:endParaRPr lang="en-IN" dirty="0"/>
          </a:p>
          <a:p>
            <a:pPr marL="0" indent="0">
              <a:buNone/>
            </a:pPr>
            <a:endParaRPr lang="en-IN" dirty="0"/>
          </a:p>
          <a:p>
            <a:pPr marL="0" indent="0">
              <a:buNone/>
            </a:pPr>
            <a:r>
              <a:rPr lang="en-IN" dirty="0"/>
              <a:t>3️⃣ </a:t>
            </a:r>
            <a:r>
              <a:rPr lang="en-IN" sz="3200" dirty="0"/>
              <a:t>Information (Data) Security</a:t>
            </a:r>
          </a:p>
          <a:p>
            <a:pPr marL="0" indent="0">
              <a:buNone/>
            </a:pPr>
            <a:r>
              <a:rPr lang="en-US" sz="3200" dirty="0"/>
              <a:t>Information security protects sensitive data such as passwords, personal details, </a:t>
            </a:r>
          </a:p>
          <a:p>
            <a:pPr marL="0" indent="0">
              <a:buNone/>
            </a:pPr>
            <a:r>
              <a:rPr lang="en-US" sz="3200" dirty="0"/>
              <a:t>and confidential files.</a:t>
            </a:r>
          </a:p>
          <a:p>
            <a:pPr marL="0" indent="0">
              <a:buNone/>
            </a:pPr>
            <a:r>
              <a:rPr lang="en-US" sz="3200" b="1" dirty="0"/>
              <a:t>Example:</a:t>
            </a:r>
            <a:r>
              <a:rPr lang="en-US" sz="3200" dirty="0"/>
              <a:t> Encrypting important documents and customer data.</a:t>
            </a:r>
          </a:p>
          <a:p>
            <a:pPr marL="0" indent="0">
              <a:buNone/>
            </a:pPr>
            <a:endParaRPr lang="en-IN" dirty="0"/>
          </a:p>
        </p:txBody>
      </p:sp>
    </p:spTree>
    <p:extLst>
      <p:ext uri="{BB962C8B-B14F-4D97-AF65-F5344CB8AC3E}">
        <p14:creationId xmlns:p14="http://schemas.microsoft.com/office/powerpoint/2010/main" val="42220252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A3F919-7734-90FB-93A5-4EE17214CFA2}"/>
              </a:ext>
            </a:extLst>
          </p:cNvPr>
          <p:cNvSpPr>
            <a:spLocks noGrp="1"/>
          </p:cNvSpPr>
          <p:nvPr>
            <p:ph idx="1"/>
          </p:nvPr>
        </p:nvSpPr>
        <p:spPr>
          <a:xfrm>
            <a:off x="98855" y="222422"/>
            <a:ext cx="11813060" cy="5745892"/>
          </a:xfrm>
        </p:spPr>
        <p:txBody>
          <a:bodyPr/>
          <a:lstStyle/>
          <a:p>
            <a:pPr marL="0" indent="0">
              <a:buNone/>
            </a:pPr>
            <a:endParaRPr lang="en-US" dirty="0"/>
          </a:p>
          <a:p>
            <a:pPr marL="0" indent="0">
              <a:buNone/>
            </a:pPr>
            <a:endParaRPr lang="en-IN" dirty="0"/>
          </a:p>
          <a:p>
            <a:pPr marL="0" indent="0">
              <a:buNone/>
            </a:pPr>
            <a:endParaRPr lang="en-IN" dirty="0"/>
          </a:p>
          <a:p>
            <a:pPr marL="0" indent="0">
              <a:buNone/>
            </a:pPr>
            <a:endParaRPr lang="en-IN" dirty="0"/>
          </a:p>
          <a:p>
            <a:pPr marL="0" indent="0">
              <a:buNone/>
            </a:pPr>
            <a:r>
              <a:rPr lang="en-IN" dirty="0"/>
              <a:t>4️⃣ </a:t>
            </a:r>
            <a:r>
              <a:rPr lang="en-IN" sz="3200" dirty="0"/>
              <a:t>Endpoint Security</a:t>
            </a:r>
          </a:p>
          <a:p>
            <a:pPr marL="0" indent="0">
              <a:buNone/>
            </a:pPr>
            <a:r>
              <a:rPr lang="en-US" sz="3200" dirty="0"/>
              <a:t>Endpoint security protects devices like laptops, mobile phones, and desktops</a:t>
            </a:r>
          </a:p>
          <a:p>
            <a:pPr marL="0" indent="0">
              <a:buNone/>
            </a:pPr>
            <a:r>
              <a:rPr lang="en-US" sz="3200" dirty="0"/>
              <a:t> from malware and viruses.</a:t>
            </a:r>
          </a:p>
          <a:p>
            <a:pPr marL="0" indent="0">
              <a:buNone/>
            </a:pPr>
            <a:r>
              <a:rPr lang="en-US" sz="3200" dirty="0" err="1"/>
              <a:t>Example:Antivirus</a:t>
            </a:r>
            <a:r>
              <a:rPr lang="en-US" sz="3200" dirty="0"/>
              <a:t> software installed on a laptop.</a:t>
            </a:r>
            <a:endParaRPr lang="en-IN" sz="3200" dirty="0"/>
          </a:p>
          <a:p>
            <a:pPr marL="0" indent="0">
              <a:buNone/>
            </a:pPr>
            <a:endParaRPr lang="en-IN" dirty="0"/>
          </a:p>
        </p:txBody>
      </p:sp>
    </p:spTree>
    <p:extLst>
      <p:ext uri="{BB962C8B-B14F-4D97-AF65-F5344CB8AC3E}">
        <p14:creationId xmlns:p14="http://schemas.microsoft.com/office/powerpoint/2010/main" val="41460913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6F293F-8EE5-10F7-80F5-B6A61F42A4C7}"/>
              </a:ext>
            </a:extLst>
          </p:cNvPr>
          <p:cNvSpPr>
            <a:spLocks noGrp="1"/>
          </p:cNvSpPr>
          <p:nvPr>
            <p:ph idx="1"/>
          </p:nvPr>
        </p:nvSpPr>
        <p:spPr>
          <a:xfrm>
            <a:off x="160638" y="271850"/>
            <a:ext cx="11813059" cy="5696464"/>
          </a:xfrm>
        </p:spPr>
        <p:txBody>
          <a:bodyPr/>
          <a:lstStyle/>
          <a:p>
            <a:pPr marL="0" indent="0">
              <a:buNone/>
            </a:pPr>
            <a:endParaRPr lang="en-US" dirty="0"/>
          </a:p>
          <a:p>
            <a:pPr marL="0" indent="0">
              <a:buNone/>
            </a:pPr>
            <a:endParaRPr lang="en-IN" dirty="0"/>
          </a:p>
          <a:p>
            <a:pPr marL="0" indent="0">
              <a:buNone/>
            </a:pPr>
            <a:endParaRPr lang="en-IN" dirty="0"/>
          </a:p>
          <a:p>
            <a:pPr marL="0" indent="0">
              <a:buNone/>
            </a:pPr>
            <a:endParaRPr lang="en-IN" dirty="0"/>
          </a:p>
          <a:p>
            <a:pPr marL="0" indent="0">
              <a:buNone/>
            </a:pPr>
            <a:r>
              <a:rPr lang="en-IN" dirty="0"/>
              <a:t>5️⃣ </a:t>
            </a:r>
            <a:r>
              <a:rPr lang="en-IN" sz="3200" dirty="0"/>
              <a:t>Cloud Security</a:t>
            </a:r>
          </a:p>
          <a:p>
            <a:pPr marL="0" indent="0">
              <a:buNone/>
            </a:pPr>
            <a:r>
              <a:rPr lang="en-US" sz="3200" dirty="0"/>
              <a:t>Cloud security protects data and services stored on cloud platforms</a:t>
            </a:r>
            <a:endParaRPr lang="en-IN" sz="3200" dirty="0"/>
          </a:p>
          <a:p>
            <a:pPr marL="0" indent="0">
              <a:buNone/>
            </a:pPr>
            <a:r>
              <a:rPr lang="en-US" sz="3200" b="1" dirty="0"/>
              <a:t>Example:</a:t>
            </a:r>
            <a:r>
              <a:rPr lang="en-US" sz="3200" dirty="0"/>
              <a:t> Protecting files stored in Google Drive with secure access controls.</a:t>
            </a:r>
            <a:endParaRPr lang="en-IN" sz="3200" dirty="0"/>
          </a:p>
        </p:txBody>
      </p:sp>
    </p:spTree>
    <p:extLst>
      <p:ext uri="{BB962C8B-B14F-4D97-AF65-F5344CB8AC3E}">
        <p14:creationId xmlns:p14="http://schemas.microsoft.com/office/powerpoint/2010/main" val="15884390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6E7438-2859-3162-9982-EC3A033507C0}"/>
              </a:ext>
            </a:extLst>
          </p:cNvPr>
          <p:cNvSpPr>
            <a:spLocks noGrp="1"/>
          </p:cNvSpPr>
          <p:nvPr>
            <p:ph idx="1"/>
          </p:nvPr>
        </p:nvSpPr>
        <p:spPr>
          <a:xfrm>
            <a:off x="210065" y="210066"/>
            <a:ext cx="11763632" cy="5758248"/>
          </a:xfrm>
        </p:spPr>
        <p:txBody>
          <a:bodyPr/>
          <a:lstStyle/>
          <a:p>
            <a:pPr marL="0" indent="0">
              <a:buNone/>
            </a:pPr>
            <a:endParaRPr lang="en-US" dirty="0"/>
          </a:p>
          <a:p>
            <a:pPr marL="0" indent="0">
              <a:buNone/>
            </a:pPr>
            <a:endParaRPr lang="en-IN" dirty="0"/>
          </a:p>
          <a:p>
            <a:pPr marL="0" indent="0">
              <a:buNone/>
            </a:pPr>
            <a:endParaRPr lang="en-IN" dirty="0"/>
          </a:p>
          <a:p>
            <a:pPr marL="0" indent="0">
              <a:buNone/>
            </a:pPr>
            <a:endParaRPr lang="en-IN" dirty="0"/>
          </a:p>
          <a:p>
            <a:pPr marL="0" indent="0">
              <a:buNone/>
            </a:pPr>
            <a:r>
              <a:rPr lang="en-US" sz="3200" dirty="0"/>
              <a:t>6️⃣ Identity &amp; Access Management (IAM)</a:t>
            </a:r>
            <a:endParaRPr lang="en-IN" sz="3200" dirty="0"/>
          </a:p>
          <a:p>
            <a:pPr marL="0" indent="0">
              <a:buNone/>
            </a:pPr>
            <a:r>
              <a:rPr lang="en-US" sz="3200" dirty="0"/>
              <a:t>IAM ensures that only authorized users can access systems and data using authentication methods.</a:t>
            </a:r>
            <a:endParaRPr lang="en-IN" sz="3200" dirty="0"/>
          </a:p>
          <a:p>
            <a:pPr marL="0" indent="0">
              <a:buNone/>
            </a:pPr>
            <a:r>
              <a:rPr lang="en-US" sz="3200" b="1" dirty="0"/>
              <a:t>Example:</a:t>
            </a:r>
            <a:r>
              <a:rPr lang="en-US" sz="3200" dirty="0"/>
              <a:t> Logging into an account using a password and OTP</a:t>
            </a:r>
            <a:endParaRPr lang="en-IN" sz="3200" dirty="0"/>
          </a:p>
        </p:txBody>
      </p:sp>
    </p:spTree>
    <p:extLst>
      <p:ext uri="{BB962C8B-B14F-4D97-AF65-F5344CB8AC3E}">
        <p14:creationId xmlns:p14="http://schemas.microsoft.com/office/powerpoint/2010/main" val="4184646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21889</TotalTime>
  <Words>2066</Words>
  <Application>Microsoft Office PowerPoint</Application>
  <PresentationFormat>Widescreen</PresentationFormat>
  <Paragraphs>310</Paragraphs>
  <Slides>52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52</vt:i4>
      </vt:variant>
    </vt:vector>
  </HeadingPairs>
  <TitlesOfParts>
    <vt:vector size="56" baseType="lpstr">
      <vt:lpstr>Arial</vt:lpstr>
      <vt:lpstr>Calibri</vt:lpstr>
      <vt:lpstr>Gill Sans MT</vt:lpstr>
      <vt:lpstr>Gallery</vt:lpstr>
      <vt:lpstr>What is AI?  AI is when computers can think, learn, and act like humans.    AI means teaching computers to act smart. Just like we humans learn from experience, AI learns from data. For example, if you upload many photos of cats, AI learns how cat looks like, and next time it can recognize a cat by itself.“</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Ismail Zabiullah</dc:creator>
  <cp:lastModifiedBy>mohammedismailzabi76@gmail.com</cp:lastModifiedBy>
  <cp:revision>8</cp:revision>
  <dcterms:created xsi:type="dcterms:W3CDTF">2025-09-24T05:27:52Z</dcterms:created>
  <dcterms:modified xsi:type="dcterms:W3CDTF">2026-01-14T04:08:04Z</dcterms:modified>
</cp:coreProperties>
</file>